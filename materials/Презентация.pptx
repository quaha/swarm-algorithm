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14"/>
  </p:notesMasterIdLst>
  <p:sldIdLst>
    <p:sldId id="258" r:id="rId3"/>
    <p:sldId id="260" r:id="rId4"/>
    <p:sldId id="269" r:id="rId5"/>
    <p:sldId id="259" r:id="rId6"/>
    <p:sldId id="262" r:id="rId7"/>
    <p:sldId id="274" r:id="rId8"/>
    <p:sldId id="275" r:id="rId9"/>
    <p:sldId id="273" r:id="rId10"/>
    <p:sldId id="264" r:id="rId11"/>
    <p:sldId id="265" r:id="rId12"/>
    <p:sldId id="272" r:id="rId1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5"/>
    </p:embeddedFont>
    <p:embeddedFont>
      <p:font typeface="Manrope" panose="020B0604020202020204" charset="0"/>
      <p:regular r:id="rId16"/>
      <p:bold r:id="rId17"/>
    </p:embeddedFont>
    <p:embeddedFont>
      <p:font typeface="Manrope Light" panose="020B0604020202020204" charset="0"/>
      <p:regular r:id="rId18"/>
      <p:bold r:id="rId19"/>
    </p:embeddedFont>
    <p:embeddedFont>
      <p:font typeface="Manrope Medium" panose="020B0604020202020204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60a8deabce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60a8deabce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60a8deabce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g260a8deabce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0a8deabce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260a8deabce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60a8deabce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g260a8deabce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89142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6868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60a8deabc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60a8deabc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60a8deabce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60a8deabce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60a8deabce_0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60a8deabce_0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455150" y="1643225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4000" b="1">
                <a:solidFill>
                  <a:srgbClr val="33333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472875" y="3777000"/>
            <a:ext cx="3309900" cy="2253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lvl="0">
              <a:spcBef>
                <a:spcPts val="30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2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1625" y="4918325"/>
            <a:ext cx="9165616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/>
          <p:nvPr/>
        </p:nvSpPr>
        <p:spPr>
          <a:xfrm>
            <a:off x="0" y="4918225"/>
            <a:ext cx="9137107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61050" y="1500450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ctr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rgbClr val="33333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/>
          <p:nvPr/>
        </p:nvSpPr>
        <p:spPr>
          <a:xfrm>
            <a:off x="1862" y="0"/>
            <a:ext cx="9140275" cy="225171"/>
          </a:xfrm>
          <a:custGeom>
            <a:avLst/>
            <a:gdLst/>
            <a:ahLst/>
            <a:cxnLst/>
            <a:rect l="l" t="t" r="r" b="b"/>
            <a:pathLst>
              <a:path w="6186311" h="152400" extrusionOk="0">
                <a:moveTo>
                  <a:pt x="0" y="0"/>
                </a:moveTo>
                <a:lnTo>
                  <a:pt x="6186311" y="0"/>
                </a:lnTo>
                <a:lnTo>
                  <a:pt x="6186311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7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01605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120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00000" y="344200"/>
            <a:ext cx="76563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nrope"/>
              <a:buNone/>
              <a:defRPr sz="2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00000" y="1148850"/>
            <a:ext cx="5380800" cy="22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nrope"/>
              <a:buChar char="•"/>
              <a:defRPr sz="16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–"/>
              <a:defRPr sz="14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Char char="•"/>
              <a:defRPr sz="1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–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»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700" r:id="rId3"/>
    <p:sldLayoutId id="214748370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ha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github.com/DtheMakeeeR" TargetMode="External"/><Relationship Id="rId5" Type="http://schemas.openxmlformats.org/officeDocument/2006/relationships/hyperlink" Target="https://github.com/AlexixRugis" TargetMode="External"/><Relationship Id="rId4" Type="http://schemas.openxmlformats.org/officeDocument/2006/relationships/hyperlink" Target="https://github.com/Projectius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ha/swarm-algorith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57"/>
          <p:cNvGrpSpPr/>
          <p:nvPr/>
        </p:nvGrpSpPr>
        <p:grpSpPr>
          <a:xfrm>
            <a:off x="-35475" y="-4683"/>
            <a:ext cx="9191400" cy="1092809"/>
            <a:chOff x="-35475" y="-4683"/>
            <a:chExt cx="9191400" cy="1092809"/>
          </a:xfrm>
        </p:grpSpPr>
        <p:cxnSp>
          <p:nvCxnSpPr>
            <p:cNvPr id="248" name="Google Shape;248;p57"/>
            <p:cNvCxnSpPr/>
            <p:nvPr/>
          </p:nvCxnSpPr>
          <p:spPr>
            <a:xfrm rot="-5400000">
              <a:off x="2495003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57"/>
            <p:cNvCxnSpPr/>
            <p:nvPr/>
          </p:nvCxnSpPr>
          <p:spPr>
            <a:xfrm rot="-5400000">
              <a:off x="6405577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57"/>
            <p:cNvCxnSpPr/>
            <p:nvPr/>
          </p:nvCxnSpPr>
          <p:spPr>
            <a:xfrm>
              <a:off x="-35475" y="1088125"/>
              <a:ext cx="91914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53" name="Google Shape;253;p57"/>
          <p:cNvSpPr txBox="1"/>
          <p:nvPr/>
        </p:nvSpPr>
        <p:spPr>
          <a:xfrm>
            <a:off x="225187" y="274494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Нижегородский государственный университет им. Н. И. Лобачевского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dirty="0">
                <a:solidFill>
                  <a:schemeClr val="dk1"/>
                </a:solidFill>
              </a:rPr>
              <a:t>Роевая модификация алгоритма оптимизации </a:t>
            </a:r>
            <a:r>
              <a:rPr lang="en-US" dirty="0" err="1">
                <a:solidFill>
                  <a:schemeClr val="dk1"/>
                </a:solidFill>
              </a:rPr>
              <a:t>SoFA</a:t>
            </a:r>
            <a:endParaRPr lang="en-GB" dirty="0"/>
          </a:p>
        </p:txBody>
      </p:sp>
      <p:sp>
        <p:nvSpPr>
          <p:cNvPr id="4" name="Google Shape;253;p57">
            <a:extLst>
              <a:ext uri="{FF2B5EF4-FFF2-40B4-BE49-F238E27FC236}">
                <a16:creationId xmlns:a16="http://schemas.microsoft.com/office/drawing/2014/main" id="{5DB724D2-8200-6C81-E95E-F4A894DEF58C}"/>
              </a:ext>
            </a:extLst>
          </p:cNvPr>
          <p:cNvSpPr txBox="1"/>
          <p:nvPr/>
        </p:nvSpPr>
        <p:spPr>
          <a:xfrm>
            <a:off x="3600768" y="293511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Математические модели процессов отбора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5" name="Google Shape;253;p57">
            <a:extLst>
              <a:ext uri="{FF2B5EF4-FFF2-40B4-BE49-F238E27FC236}">
                <a16:creationId xmlns:a16="http://schemas.microsoft.com/office/drawing/2014/main" id="{EE53579A-C6C1-6E07-5298-6F7B81A8CC19}"/>
              </a:ext>
            </a:extLst>
          </p:cNvPr>
          <p:cNvSpPr txBox="1"/>
          <p:nvPr/>
        </p:nvSpPr>
        <p:spPr>
          <a:xfrm>
            <a:off x="6755527" y="403760"/>
            <a:ext cx="2632307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Проектная работа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9"/>
          <p:cNvSpPr txBox="1"/>
          <p:nvPr/>
        </p:nvSpPr>
        <p:spPr>
          <a:xfrm>
            <a:off x="452625" y="1106000"/>
            <a:ext cx="4407600" cy="3960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30200" marR="0" lvl="1" indent="-1397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Актуальность 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глобальной </a:t>
            </a: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оптимизации: </a:t>
            </a:r>
            <a:r>
              <a:rPr lang="ru-RU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Современные научные и инженерные задачи требуют эффективных методов поиска оптимальных решений. Алгоритмы оптимизации — ключевой и наиболее распространенный способ решения таких задач</a:t>
            </a:r>
            <a:r>
              <a:rPr lang="en-US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Преимущества </a:t>
            </a:r>
            <a:r>
              <a:rPr lang="ru-RU" sz="1000" b="1" dirty="0" err="1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SoFA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: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 Один из лидирующих алгоритмов в данной области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,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обладает важным свойством — сходимостью по вероятности к глобальному оптимуму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Цель модификации: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Роевая модификация призвана привнести механизмы коллективного взаимодействия, что может привести как к ускорению поиска решения, так и к повышению его точности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100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Практическая значимость: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Удачная оптимизация позволит сократить временные и вычислительные затраты на решение сложных оптимизационных задач, расширяя границы их применимости в реальных приложениях.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285" name="Google Shape;285;p59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4326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Мотивация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F36CC9-2E80-C75B-6B27-0A5680FCD0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468" y="233364"/>
            <a:ext cx="3881532" cy="4910136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8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Участники проекта</a:t>
            </a:r>
            <a:endParaRPr dirty="0"/>
          </a:p>
        </p:txBody>
      </p:sp>
      <p:sp>
        <p:nvSpPr>
          <p:cNvPr id="439" name="Google Shape;439;p68"/>
          <p:cNvSpPr txBox="1"/>
          <p:nvPr/>
        </p:nvSpPr>
        <p:spPr>
          <a:xfrm>
            <a:off x="452625" y="1763475"/>
            <a:ext cx="32061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Telegram: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TeaPartyIsComming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-mail: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ArtemRomanov2017@yandex.ru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3"/>
              </a:rPr>
              <a:t>https://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3"/>
              </a:rPr>
              <a:t>github.com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3"/>
              </a:rPr>
              <a:t>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3"/>
              </a:rPr>
              <a:t>Quaha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0" name="Google Shape;440;p68"/>
          <p:cNvSpPr txBox="1"/>
          <p:nvPr/>
        </p:nvSpPr>
        <p:spPr>
          <a:xfrm>
            <a:off x="45262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Артем Романов (Координатор)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1" name="Google Shape;441;p68"/>
          <p:cNvSpPr txBox="1"/>
          <p:nvPr/>
        </p:nvSpPr>
        <p:spPr>
          <a:xfrm>
            <a:off x="452625" y="3089000"/>
            <a:ext cx="32061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Projectius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sprojectiustech@gmail.com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4"/>
              </a:rPr>
              <a:t>https://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4"/>
              </a:rPr>
              <a:t>github.com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4"/>
              </a:rPr>
              <a:t>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4"/>
              </a:rPr>
              <a:t>Projectius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2" name="Google Shape;442;p68"/>
          <p:cNvSpPr txBox="1"/>
          <p:nvPr/>
        </p:nvSpPr>
        <p:spPr>
          <a:xfrm>
            <a:off x="45262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Семён Константинов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3" name="Google Shape;443;p68"/>
          <p:cNvSpPr txBox="1"/>
          <p:nvPr/>
        </p:nvSpPr>
        <p:spPr>
          <a:xfrm>
            <a:off x="4439975" y="1763475"/>
            <a:ext cx="32061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alexixrugis</a:t>
            </a:r>
            <a:endParaRPr lang="en-US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 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alexix222@yandex.ru</a:t>
            </a:r>
            <a:endParaRPr lang="en-US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5"/>
              </a:rPr>
              <a:t>https://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5"/>
              </a:rPr>
              <a:t>github.com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5"/>
              </a:rPr>
              <a:t>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5"/>
              </a:rPr>
              <a:t>AlexixRugis</a:t>
            </a:r>
            <a:endParaRPr lang="en-GB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4" name="Google Shape;444;p68"/>
          <p:cNvSpPr txBox="1"/>
          <p:nvPr/>
        </p:nvSpPr>
        <p:spPr>
          <a:xfrm>
            <a:off x="443997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Алексей </a:t>
            </a:r>
            <a:r>
              <a:rPr lang="ru-RU" sz="1300" dirty="0" err="1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Гутянский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5" name="Google Shape;445;p68"/>
          <p:cNvSpPr txBox="1"/>
          <p:nvPr/>
        </p:nvSpPr>
        <p:spPr>
          <a:xfrm>
            <a:off x="4439975" y="3089000"/>
            <a:ext cx="32061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3823Б1ПР1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d4_1l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d4n11gol@yandex.ru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6"/>
              </a:rPr>
              <a:t>https://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6"/>
              </a:rPr>
              <a:t>github.com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  <a:hlinkClick r:id="rId6"/>
              </a:rPr>
              <a:t>/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  <a:hlinkClick r:id="rId6"/>
              </a:rPr>
              <a:t>DtheMakeeeR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6" name="Google Shape;446;p68"/>
          <p:cNvSpPr txBox="1"/>
          <p:nvPr/>
        </p:nvSpPr>
        <p:spPr>
          <a:xfrm>
            <a:off x="443997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Даниил Голованов</a:t>
            </a:r>
            <a:endParaRPr sz="5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8"/>
          <p:cNvSpPr/>
          <p:nvPr/>
        </p:nvSpPr>
        <p:spPr>
          <a:xfrm>
            <a:off x="0" y="1325"/>
            <a:ext cx="1815389" cy="5146170"/>
          </a:xfrm>
          <a:custGeom>
            <a:avLst/>
            <a:gdLst/>
            <a:ahLst/>
            <a:cxnLst/>
            <a:rect l="l" t="t" r="r" b="b"/>
            <a:pathLst>
              <a:path w="1370105" h="3935885" extrusionOk="0">
                <a:moveTo>
                  <a:pt x="0" y="0"/>
                </a:moveTo>
                <a:lnTo>
                  <a:pt x="1370105" y="0"/>
                </a:lnTo>
                <a:lnTo>
                  <a:pt x="1370105" y="3935885"/>
                </a:lnTo>
                <a:lnTo>
                  <a:pt x="0" y="39358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3" name="Google Shape;263;p58"/>
          <p:cNvSpPr txBox="1"/>
          <p:nvPr/>
        </p:nvSpPr>
        <p:spPr>
          <a:xfrm>
            <a:off x="3087161" y="1224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Изучение материалов, планирование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4" name="Google Shape;264;p58"/>
          <p:cNvSpPr txBox="1"/>
          <p:nvPr/>
        </p:nvSpPr>
        <p:spPr>
          <a:xfrm>
            <a:off x="3087161" y="18666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программы базового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5" name="Google Shape;265;p58"/>
          <p:cNvSpPr txBox="1"/>
          <p:nvPr/>
        </p:nvSpPr>
        <p:spPr>
          <a:xfrm>
            <a:off x="3087161" y="25088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Имплементация алгоритмов-конкурентов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6" name="Google Shape;266;p58"/>
          <p:cNvSpPr txBox="1"/>
          <p:nvPr/>
        </p:nvSpPr>
        <p:spPr>
          <a:xfrm>
            <a:off x="3087161" y="31511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новой модификации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7" name="Google Shape;267;p58"/>
          <p:cNvSpPr txBox="1"/>
          <p:nvPr/>
        </p:nvSpPr>
        <p:spPr>
          <a:xfrm>
            <a:off x="3087161" y="3793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Сравнение алгоритмов, доработка модификации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8" name="Google Shape;268;p58"/>
          <p:cNvSpPr txBox="1"/>
          <p:nvPr/>
        </p:nvSpPr>
        <p:spPr>
          <a:xfrm>
            <a:off x="2440985" y="1224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9" name="Google Shape;269;p58"/>
          <p:cNvSpPr txBox="1"/>
          <p:nvPr/>
        </p:nvSpPr>
        <p:spPr>
          <a:xfrm>
            <a:off x="2440985" y="18666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0" name="Google Shape;270;p58"/>
          <p:cNvSpPr txBox="1"/>
          <p:nvPr/>
        </p:nvSpPr>
        <p:spPr>
          <a:xfrm>
            <a:off x="2440985" y="25088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1" name="Google Shape;271;p58"/>
          <p:cNvSpPr txBox="1"/>
          <p:nvPr/>
        </p:nvSpPr>
        <p:spPr>
          <a:xfrm>
            <a:off x="2440985" y="31511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IV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2" name="Google Shape;272;p58"/>
          <p:cNvSpPr txBox="1"/>
          <p:nvPr/>
        </p:nvSpPr>
        <p:spPr>
          <a:xfrm>
            <a:off x="2440985" y="3793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V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3" name="Google Shape;273;p58"/>
          <p:cNvSpPr txBox="1"/>
          <p:nvPr/>
        </p:nvSpPr>
        <p:spPr>
          <a:xfrm>
            <a:off x="8064628" y="1234356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"/>
              </a:rPr>
              <a:t>март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4" name="Google Shape;274;p58"/>
          <p:cNvSpPr txBox="1"/>
          <p:nvPr/>
        </p:nvSpPr>
        <p:spPr>
          <a:xfrm>
            <a:off x="8064628" y="18666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март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6" name="Google Shape;276;p58"/>
          <p:cNvSpPr txBox="1"/>
          <p:nvPr/>
        </p:nvSpPr>
        <p:spPr>
          <a:xfrm>
            <a:off x="8064628" y="2444242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апрель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8" name="Google Shape;278;p58"/>
          <p:cNvSpPr txBox="1"/>
          <p:nvPr/>
        </p:nvSpPr>
        <p:spPr>
          <a:xfrm>
            <a:off x="269594" y="369570"/>
            <a:ext cx="12762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План проекта</a:t>
            </a:r>
            <a:endParaRPr sz="105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" name="Google Shape;277;p58"/>
          <p:cNvSpPr txBox="1"/>
          <p:nvPr/>
        </p:nvSpPr>
        <p:spPr>
          <a:xfrm>
            <a:off x="8083177" y="3152150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апрель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" name="Google Shape;272;p58"/>
          <p:cNvSpPr txBox="1"/>
          <p:nvPr/>
        </p:nvSpPr>
        <p:spPr>
          <a:xfrm>
            <a:off x="2400055" y="4359822"/>
            <a:ext cx="3411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VI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3" name="Google Shape;267;p58"/>
          <p:cNvSpPr txBox="1"/>
          <p:nvPr/>
        </p:nvSpPr>
        <p:spPr>
          <a:xfrm>
            <a:off x="3082354" y="4365466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Оценка экспериментальных данных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4" name="Google Shape;277;p58"/>
          <p:cNvSpPr txBox="1"/>
          <p:nvPr/>
        </p:nvSpPr>
        <p:spPr>
          <a:xfrm>
            <a:off x="8064628" y="379339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май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5" name="Google Shape;277;p58"/>
          <p:cNvSpPr txBox="1"/>
          <p:nvPr/>
        </p:nvSpPr>
        <p:spPr>
          <a:xfrm>
            <a:off x="8064628" y="4359822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май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1"/>
          <p:cNvSpPr txBox="1"/>
          <p:nvPr/>
        </p:nvSpPr>
        <p:spPr>
          <a:xfrm>
            <a:off x="3212573" y="1223946"/>
            <a:ext cx="4020433" cy="3545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Вместо жёстко зафиксированного распределения обязанностей была выбрана более гибкая система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состоящая из </a:t>
            </a:r>
            <a:r>
              <a:rPr lang="ru-RU" sz="1200" i="0" u="none" strike="noStrike" cap="none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микроспринтов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длительностью 3-5 дней каждый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На время каждого из них участникам проекта предлагается на выбор одна из 4-х задач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которая должна быть завершена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Задачи выбираются исходя из текущего состояния проекта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и решённых до этого задач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Работа над проектом ведётся в соответствующем репозитории на ресурсе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https://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github.com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Quaha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/swarm-algorithm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06" name="Google Shape;306;p61"/>
          <p:cNvSpPr txBox="1">
            <a:spLocks noGrp="1"/>
          </p:cNvSpPr>
          <p:nvPr>
            <p:ph type="title"/>
          </p:nvPr>
        </p:nvSpPr>
        <p:spPr>
          <a:xfrm>
            <a:off x="3212574" y="621152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Организация работы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27A01F-E595-6B43-A1BB-10925E08C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28600"/>
            <a:ext cx="2724133" cy="4914900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Google Shape;312;p62"/>
              <p:cNvSpPr txBox="1"/>
              <p:nvPr/>
            </p:nvSpPr>
            <p:spPr>
              <a:xfrm>
                <a:off x="452625" y="1042516"/>
                <a:ext cx="6375900" cy="5919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lvl="0">
                  <a:lnSpc>
                    <a:spcPct val="160000"/>
                  </a:lnSpc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  <a:sym typeface="Manrope Medium"/>
                  </a:rPr>
                  <a:t>Заданы </a:t>
                </a:r>
                <a:r>
                  <a:rPr lang="en-US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  <a:sym typeface="Manrope Medium"/>
                  </a:rPr>
                  <a:t>n-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  <a:sym typeface="Manrope Medium"/>
                  </a:rPr>
                  <a:t>мерный параллелепипед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Π</m:t>
                    </m:r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=</m:t>
                    </m:r>
                    <m:r>
                      <m:rPr>
                        <m:lit/>
                      </m:rP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{</m:t>
                    </m:r>
                    <m:r>
                      <a:rPr lang="ru-RU" sz="1200" b="0" i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 </m:t>
                    </m:r>
                    <m:r>
                      <a:rPr lang="ru-RU" sz="120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2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,…, 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  <a:ea typeface="Manrope"/>
                                <a:cs typeface="Manrope"/>
                                <a:sym typeface="Manrope Medium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∈</m:t>
                    </m:r>
                    <m:sSup>
                      <m:sSupPr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</m:ctrlPr>
                      </m:sSupPr>
                      <m:e>
                        <m:r>
                          <a:rPr lang="ru-RU" sz="120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𝑛</m:t>
                        </m:r>
                      </m:sup>
                    </m:sSup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∣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≤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≤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𝑏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 Medium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,  </m:t>
                    </m:r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𝑖</m:t>
                    </m:r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Manrope"/>
                        <a:cs typeface="Manrope"/>
                        <a:sym typeface="Manrope Medium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sym typeface="Manrope Medium"/>
                          </a:rPr>
                        </m:ctrlPr>
                      </m:accPr>
                      <m:e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sym typeface="Manrope Medium"/>
                          </a:rPr>
                          <m:t>1</m:t>
                        </m:r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sym typeface="Manrope Medium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sym typeface="Manrope Medium"/>
                          </a:rPr>
                          <m:t>𝑛</m:t>
                        </m:r>
                      </m:e>
                    </m:acc>
                    <m:r>
                      <a:rPr lang="ru-RU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sym typeface="Manrope Medium"/>
                      </a:rPr>
                      <m:t> </m:t>
                    </m:r>
                    <m:r>
                      <a:rPr lang="en-US" sz="1200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sym typeface="Manrope Medium"/>
                      </a:rPr>
                      <m:t>}</m:t>
                    </m:r>
                  </m:oMath>
                </a14:m>
                <a:r>
                  <a:rPr lang="en-US" sz="1200" dirty="0">
                    <a:latin typeface="Manrope"/>
                    <a:ea typeface="Manrope"/>
                    <a:cs typeface="Manrope"/>
                    <a:sym typeface="Manrope"/>
                  </a:rPr>
                  <a:t>, </a:t>
                </a:r>
                <a:r>
                  <a:rPr lang="ru-RU" sz="1200" dirty="0">
                    <a:latin typeface="Manrope"/>
                    <a:ea typeface="Manrope"/>
                    <a:cs typeface="Manrope"/>
                    <a:sym typeface="Manrope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𝑏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∈</m:t>
                    </m:r>
                    <m:r>
                      <a:rPr lang="ru-RU" sz="120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200" dirty="0">
                    <a:latin typeface="Manrope"/>
                    <a:ea typeface="Manrope"/>
                    <a:cs typeface="Manrope"/>
                    <a:sym typeface="Manrope"/>
                  </a:rPr>
                  <a:t> </a:t>
                </a:r>
                <a:r>
                  <a:rPr lang="ru-RU" sz="1200" dirty="0">
                    <a:latin typeface="Manrope"/>
                    <a:ea typeface="Manrope"/>
                    <a:cs typeface="Manrope"/>
                    <a:sym typeface="Manrope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&lt;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𝑏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>
                    <a:latin typeface="Manrope"/>
                    <a:ea typeface="Manrope"/>
                    <a:cs typeface="Manrope"/>
                    <a:sym typeface="Manrope"/>
                  </a:rPr>
                  <a:t> </a:t>
                </a:r>
                <a:r>
                  <a:rPr lang="ru-RU" sz="1200" dirty="0">
                    <a:latin typeface="Manrope"/>
                    <a:ea typeface="Manrope"/>
                    <a:cs typeface="Manrope"/>
                    <a:sym typeface="Manrope"/>
                  </a:rPr>
                  <a:t>для всех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𝑖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1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2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,…,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𝑛</m:t>
                    </m:r>
                  </m:oMath>
                </a14:m>
                <a:r>
                  <a:rPr lang="ru-RU" sz="1200" dirty="0">
                    <a:latin typeface="Manrope"/>
                    <a:ea typeface="Manrope"/>
                    <a:cs typeface="Manrope"/>
                    <a:sym typeface="Manrope"/>
                  </a:rPr>
                  <a:t>, и функция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𝐹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Manrope"/>
                            <a:cs typeface="Manrope"/>
                            <a:sym typeface="Manrope"/>
                          </a:rPr>
                          <m:t>𝑥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Manrope"/>
                        <a:cs typeface="Manrope"/>
                        <a:sym typeface="Manrope"/>
                      </a:rPr>
                      <m:t>0</m:t>
                    </m:r>
                  </m:oMath>
                </a14:m>
                <a:r>
                  <a:rPr lang="en-US" sz="1200" dirty="0">
                    <a:latin typeface="Manrope"/>
                    <a:ea typeface="Manrope"/>
                    <a:cs typeface="Manrope"/>
                    <a:sym typeface="Manrope"/>
                  </a:rPr>
                  <a:t>, </a:t>
                </a:r>
                <a:r>
                  <a:rPr lang="ru-RU" sz="1200" dirty="0">
                    <a:latin typeface="Manrope"/>
                    <a:ea typeface="Manrope"/>
                    <a:cs typeface="Manrope"/>
                    <a:sym typeface="Manrope"/>
                  </a:rPr>
                  <a:t>непрерывная в нем.</a:t>
                </a:r>
              </a:p>
            </p:txBody>
          </p:sp>
        </mc:Choice>
        <mc:Fallback>
          <p:sp>
            <p:nvSpPr>
              <p:cNvPr id="312" name="Google Shape;312;p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5" y="1042516"/>
                <a:ext cx="6375900" cy="591957"/>
              </a:xfrm>
              <a:prstGeom prst="rect">
                <a:avLst/>
              </a:prstGeom>
              <a:blipFill>
                <a:blip r:embed="rId3"/>
                <a:stretch>
                  <a:fillRect l="-1434" b="-92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Описание задачи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0963B-67B5-4305-BE26-F241AC72E786}"/>
                  </a:ext>
                </a:extLst>
              </p:cNvPr>
              <p:cNvSpPr txBox="1"/>
              <p:nvPr/>
            </p:nvSpPr>
            <p:spPr>
              <a:xfrm>
                <a:off x="358028" y="1901254"/>
                <a:ext cx="8100172" cy="1696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Требуется найти точки глобального максимума (минимума) функции </a:t>
                </a:r>
                <a14:m>
                  <m:oMath xmlns:m="http://schemas.openxmlformats.org/officeDocument/2006/math">
                    <m:r>
                      <a:rPr lang="ru-RU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nrope"/>
                      </a:rPr>
                      <m:t>𝐹</m:t>
                    </m:r>
                  </m:oMath>
                </a14:m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 в области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nrope"/>
                      </a:rPr>
                      <m:t>Π</m:t>
                    </m:r>
                  </m:oMath>
                </a14:m>
                <a:r>
                  <a:rPr lang="el-GR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.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Формально, требуется найти точку (или множество точек)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</m:ctrlPr>
                      </m:sSupPr>
                      <m:e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  <m:t>𝐱</m:t>
                        </m:r>
                      </m:e>
                      <m:sup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  <m:t>∗</m:t>
                        </m:r>
                      </m:sup>
                    </m:sSup>
                    <m:r>
                      <a:rPr lang="ar-AE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nrope"/>
                      </a:rPr>
                      <m:t>∈</m:t>
                    </m:r>
                    <m:r>
                      <m:rPr>
                        <m:sty m:val="p"/>
                      </m:rPr>
                      <a:rPr lang="el-GR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nrope"/>
                      </a:rPr>
                      <m:t>Π</m:t>
                    </m:r>
                  </m:oMath>
                </a14:m>
                <a:r>
                  <a:rPr lang="el-GR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и соответствующее значение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</m:ctrlPr>
                      </m:sSupPr>
                      <m:e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  <m:t>𝐹</m:t>
                        </m:r>
                      </m:e>
                      <m:sup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nrope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,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такие что:</a:t>
                </a:r>
                <a:endParaRPr lang="en-US" sz="1200" dirty="0">
                  <a:solidFill>
                    <a:srgbClr val="333333"/>
                  </a:solidFill>
                  <a:latin typeface="Manrope Medium"/>
                  <a:ea typeface="Manrope"/>
                  <a:cs typeface="Manrope"/>
                </a:endParaRPr>
              </a:p>
              <a:p>
                <a:pPr marL="0" lvl="0" indent="0">
                  <a:buNone/>
                </a:pPr>
                <a:endParaRPr lang="ru-RU" sz="1200" dirty="0">
                  <a:solidFill>
                    <a:srgbClr val="333333"/>
                  </a:solidFill>
                  <a:latin typeface="Manrope Medium"/>
                  <a:ea typeface="Manrope"/>
                  <a:cs typeface="Manrope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𝐹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=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𝐹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(</m:t>
                      </m:r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𝐱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)=</m:t>
                      </m:r>
                      <m:limLow>
                        <m:limLow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max</m:t>
                          </m:r>
                        </m:e>
                        <m:lim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𝐱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l-GR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Π</m:t>
                          </m:r>
                        </m:lim>
                      </m:limLow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𝐹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(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𝐱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Manrope"/>
                </a:endParaRPr>
              </a:p>
              <a:p>
                <a:pPr marL="0" lvl="0" indent="0">
                  <a:buNone/>
                </a:pPr>
                <a:endParaRPr lang="ar-AE" sz="1200" dirty="0">
                  <a:solidFill>
                    <a:srgbClr val="333333"/>
                  </a:solidFill>
                  <a:latin typeface="Manrope Medium"/>
                  <a:ea typeface="Manrope"/>
                  <a:cs typeface="Manrope"/>
                </a:endParaRPr>
              </a:p>
              <a:p>
                <a:pPr marL="0" lvl="0" indent="0">
                  <a:buNone/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Это означает, что для любого </a:t>
                </a:r>
                <a14:m>
                  <m:oMath xmlns:m="http://schemas.openxmlformats.org/officeDocument/2006/math">
                    <m:r>
                      <a:rPr lang="ru-RU" sz="1200">
                        <a:solidFill>
                          <a:srgbClr val="333333"/>
                        </a:solidFill>
                        <a:latin typeface="Manrope Medium"/>
                        <a:ea typeface="Manrope"/>
                        <a:cs typeface="Manrope"/>
                      </a:rPr>
                      <m:t>𝐱</m:t>
                    </m:r>
                    <m:r>
                      <a:rPr lang="ru-RU" sz="1200">
                        <a:solidFill>
                          <a:srgbClr val="333333"/>
                        </a:solidFill>
                        <a:latin typeface="Manrope Medium"/>
                        <a:ea typeface="Manrope"/>
                        <a:cs typeface="Manrope"/>
                      </a:rPr>
                      <m:t>∈</m:t>
                    </m:r>
                    <m:r>
                      <m:rPr>
                        <m:sty m:val="p"/>
                      </m:rPr>
                      <a:rPr lang="el-GR" sz="1200">
                        <a:solidFill>
                          <a:srgbClr val="333333"/>
                        </a:solidFill>
                        <a:latin typeface="Manrope Medium"/>
                        <a:ea typeface="Manrope"/>
                        <a:cs typeface="Manrope"/>
                      </a:rPr>
                      <m:t>Π</m:t>
                    </m:r>
                  </m:oMath>
                </a14:m>
                <a:r>
                  <a:rPr lang="el-GR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  <a:ea typeface="Manrope"/>
                    <a:cs typeface="Manrope"/>
                  </a:rPr>
                  <a:t>выполняется неравенство:</a:t>
                </a:r>
                <a:endParaRPr lang="en-US" sz="1200" dirty="0">
                  <a:solidFill>
                    <a:srgbClr val="333333"/>
                  </a:solidFill>
                  <a:latin typeface="Manrope Medium"/>
                  <a:ea typeface="Manrope"/>
                  <a:cs typeface="Manrope"/>
                </a:endParaRPr>
              </a:p>
              <a:p>
                <a:pPr marL="0" lvl="0" indent="0">
                  <a:buNone/>
                </a:pPr>
                <a:endParaRPr lang="ru-RU" sz="1200" dirty="0">
                  <a:solidFill>
                    <a:srgbClr val="333333"/>
                  </a:solidFill>
                  <a:latin typeface="Manrope Medium"/>
                  <a:ea typeface="Manrope"/>
                  <a:cs typeface="Manrope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𝐹</m:t>
                      </m:r>
                      <m:r>
                        <a:rPr lang="ru-RU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(</m:t>
                      </m:r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𝐱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nrope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)≥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𝐹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(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𝐱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nrope"/>
                        </a:rPr>
                        <m:t>).</m:t>
                      </m:r>
                    </m:oMath>
                  </m:oMathPara>
                </a14:m>
                <a:endParaRPr lang="ar-AE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Manrope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0963B-67B5-4305-BE26-F241AC72E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028" y="1901254"/>
                <a:ext cx="8100172" cy="1696490"/>
              </a:xfrm>
              <a:prstGeom prst="rect">
                <a:avLst/>
              </a:prstGeom>
              <a:blipFill>
                <a:blip r:embed="rId4"/>
                <a:stretch>
                  <a:fillRect l="-75" t="-360" b="-2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429E7-477E-4274-B5D1-8AD41E205E9C}"/>
                  </a:ext>
                </a:extLst>
              </p:cNvPr>
              <p:cNvSpPr txBox="1"/>
              <p:nvPr/>
            </p:nvSpPr>
            <p:spPr>
              <a:xfrm>
                <a:off x="358028" y="3723331"/>
                <a:ext cx="45753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Обозначения: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200" dirty="0">
                    <a:solidFill>
                      <a:srgbClr val="333333"/>
                    </a:solidFill>
                    <a:latin typeface="Manrope Medium"/>
                  </a:rPr>
                  <a:t> —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точка глобального максимума (глобальный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максимизатор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);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ar-AE" sz="12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200" dirty="0">
                    <a:solidFill>
                      <a:srgbClr val="333333"/>
                    </a:solidFill>
                    <a:latin typeface="Manrope Medium"/>
                  </a:rPr>
                  <a:t> —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глобальный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максимум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(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значение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функции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в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этой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</a:t>
                </a:r>
                <a:r>
                  <a:rPr lang="ru-RU" sz="1200" dirty="0" err="1">
                    <a:solidFill>
                      <a:srgbClr val="333333"/>
                    </a:solidFill>
                    <a:latin typeface="Manrope Medium"/>
                  </a:rPr>
                  <a:t>точке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).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429E7-477E-4274-B5D1-8AD41E205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028" y="3723331"/>
                <a:ext cx="4575362" cy="1015663"/>
              </a:xfrm>
              <a:prstGeom prst="rect">
                <a:avLst/>
              </a:prstGeom>
              <a:blipFill>
                <a:blip r:embed="rId5"/>
                <a:stretch>
                  <a:fillRect l="-133" t="-1205" b="-36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Google Shape;312;p62"/>
              <p:cNvSpPr txBox="1"/>
              <p:nvPr/>
            </p:nvSpPr>
            <p:spPr>
              <a:xfrm>
                <a:off x="452624" y="1042516"/>
                <a:ext cx="8113151" cy="14502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lvl="0" indent="0">
                  <a:buNone/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Результатом решения является нахождение одной или более одной точки глобального экстремума (в нашем случае максимума), то есть такой точки множества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</m:oMath>
                </a14:m>
                <a:r>
                  <a:rPr lang="el-GR" sz="1200" dirty="0">
                    <a:solidFill>
                      <a:srgbClr val="333333"/>
                    </a:solidFill>
                    <a:latin typeface="Manrope Medium"/>
                  </a:rPr>
                  <a:t>, </a:t>
                </a: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в которой функция </a:t>
                </a:r>
                <a14:m>
                  <m:oMath xmlns:m="http://schemas.openxmlformats.org/officeDocument/2006/math">
                    <m:r>
                      <a:rPr lang="ru-RU" sz="120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 принимает наибольшее (или наименьшее) значение:</a:t>
                </a:r>
              </a:p>
              <a:p>
                <a:pPr marL="0" lvl="0" indent="0">
                  <a:buNone/>
                </a:pPr>
                <a:endParaRPr lang="ru-RU" sz="1200" dirty="0">
                  <a:solidFill>
                    <a:srgbClr val="333333"/>
                  </a:solidFill>
                  <a:latin typeface="Manrope Medium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l-GR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lim>
                      </m:limLow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:endParaRPr lang="ar-AE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={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∣</m:t>
                      </m:r>
                      <m: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l-GR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ar-AE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12" name="Google Shape;312;p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4" y="1042516"/>
                <a:ext cx="8113151" cy="1450269"/>
              </a:xfrm>
              <a:prstGeom prst="rect">
                <a:avLst/>
              </a:prstGeom>
              <a:blipFill>
                <a:blip r:embed="rId3"/>
                <a:stretch>
                  <a:fillRect l="-1127" t="-3782" b="-4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Описание задачи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10E7A-5752-44C8-8F30-1D71B7471A1D}"/>
                  </a:ext>
                </a:extLst>
              </p:cNvPr>
              <p:cNvSpPr txBox="1"/>
              <p:nvPr/>
            </p:nvSpPr>
            <p:spPr>
              <a:xfrm>
                <a:off x="452624" y="3158139"/>
                <a:ext cx="8113151" cy="742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ru-RU" sz="1200" dirty="0">
                    <a:solidFill>
                      <a:srgbClr val="333333"/>
                    </a:solidFill>
                    <a:latin typeface="Manrope Medium"/>
                  </a:rPr>
                  <a:t>Если требуется найти глобальный минимум, задача формулируется как:</a:t>
                </a:r>
              </a:p>
              <a:p>
                <a:pPr marL="0" lvl="0" indent="0">
                  <a:buNone/>
                </a:pPr>
                <a:endParaRPr lang="ru-RU" sz="1200" dirty="0">
                  <a:solidFill>
                    <a:srgbClr val="333333"/>
                  </a:solidFill>
                  <a:latin typeface="Manrope Medium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l-GR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lim>
                      </m:limLow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ar-AE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)=−</m:t>
                      </m:r>
                      <m:limLow>
                        <m:limLow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l-GR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lim>
                      </m:limLow>
                      <m:d>
                        <m:dPr>
                          <m:ctrlP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ar-AE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dirty="0">
                  <a:solidFill>
                    <a:srgbClr val="333333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10E7A-5752-44C8-8F30-1D71B7471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4" y="3158139"/>
                <a:ext cx="8113151" cy="742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0227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3000" dirty="0"/>
              <a:t>Сравнительный анализ: алгоритмы и тестовые функции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18267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Controlled Random Search (CRS)</a:t>
            </a:r>
            <a:endParaRPr dirty="0"/>
          </a:p>
        </p:txBody>
      </p:sp>
      <p:sp>
        <p:nvSpPr>
          <p:cNvPr id="321" name="Google Shape;321;p63"/>
          <p:cNvSpPr txBox="1"/>
          <p:nvPr/>
        </p:nvSpPr>
        <p:spPr>
          <a:xfrm>
            <a:off x="3156164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2" name="Google Shape;322;p63"/>
          <p:cNvSpPr txBox="1"/>
          <p:nvPr/>
        </p:nvSpPr>
        <p:spPr>
          <a:xfrm>
            <a:off x="502528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3" name="Google Shape;323;p63"/>
          <p:cNvSpPr txBox="1"/>
          <p:nvPr/>
        </p:nvSpPr>
        <p:spPr>
          <a:xfrm>
            <a:off x="502528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Описание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4" name="Google Shape;324;p63"/>
          <p:cNvSpPr txBox="1"/>
          <p:nvPr/>
        </p:nvSpPr>
        <p:spPr>
          <a:xfrm>
            <a:off x="3156164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Особенности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092C62-37CF-BC93-2F3A-72A7E7B7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188" y="233363"/>
            <a:ext cx="3519812" cy="4910137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4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Функция </a:t>
            </a:r>
            <a:r>
              <a:rPr lang="ru-RU" dirty="0" err="1"/>
              <a:t>Растригина</a:t>
            </a:r>
            <a:endParaRPr dirty="0"/>
          </a:p>
        </p:txBody>
      </p:sp>
      <p:sp>
        <p:nvSpPr>
          <p:cNvPr id="331" name="Google Shape;331;p64"/>
          <p:cNvSpPr txBox="1"/>
          <p:nvPr/>
        </p:nvSpPr>
        <p:spPr>
          <a:xfrm>
            <a:off x="4396875" y="1632240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f(…) = … (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но нормальной формулой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а не текстом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)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32" name="Google Shape;332;p64"/>
          <p:cNvSpPr txBox="1"/>
          <p:nvPr/>
        </p:nvSpPr>
        <p:spPr>
          <a:xfrm>
            <a:off x="4396878" y="2319858"/>
            <a:ext cx="38784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Пункт1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Пункт2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Пункт3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  <a:endParaRPr sz="1000" dirty="0">
              <a:solidFill>
                <a:srgbClr val="333333"/>
              </a:solidFill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" name="Google Shape;331;p64">
            <a:extLst>
              <a:ext uri="{FF2B5EF4-FFF2-40B4-BE49-F238E27FC236}">
                <a16:creationId xmlns:a16="http://schemas.microsoft.com/office/drawing/2014/main" id="{6C02F778-99D4-1FA0-33A4-7882B5ADF2CA}"/>
              </a:ext>
            </a:extLst>
          </p:cNvPr>
          <p:cNvSpPr txBox="1"/>
          <p:nvPr/>
        </p:nvSpPr>
        <p:spPr>
          <a:xfrm>
            <a:off x="4396875" y="1283764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A47CB7-E53D-9473-0555-34DD3074A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20" y="1243875"/>
            <a:ext cx="3808447" cy="3103377"/>
          </a:xfrm>
          <a:prstGeom prst="rect">
            <a:avLst/>
          </a:prstGeom>
          <a:effectLst>
            <a:softEdge rad="266700"/>
          </a:effectLst>
        </p:spPr>
      </p:pic>
      <p:sp>
        <p:nvSpPr>
          <p:cNvPr id="9" name="Google Shape;331;p64">
            <a:extLst>
              <a:ext uri="{FF2B5EF4-FFF2-40B4-BE49-F238E27FC236}">
                <a16:creationId xmlns:a16="http://schemas.microsoft.com/office/drawing/2014/main" id="{8413CDD0-0048-6393-5A61-E79532257A93}"/>
              </a:ext>
            </a:extLst>
          </p:cNvPr>
          <p:cNvSpPr txBox="1"/>
          <p:nvPr/>
        </p:nvSpPr>
        <p:spPr>
          <a:xfrm>
            <a:off x="4396875" y="2024392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Особенности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: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71"/>
          <p:cNvPicPr preferRelativeResize="0"/>
          <p:nvPr/>
        </p:nvPicPr>
        <p:blipFill rotWithShape="1">
          <a:blip r:embed="rId3">
            <a:alphaModFix amt="51000"/>
          </a:blip>
          <a:srcRect b="17770"/>
          <a:stretch/>
        </p:blipFill>
        <p:spPr>
          <a:xfrm>
            <a:off x="0" y="0"/>
            <a:ext cx="9144003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sert">
  <a:themeElements>
    <a:clrScheme name="Office">
      <a:dk1>
        <a:srgbClr val="333333"/>
      </a:dk1>
      <a:lt1>
        <a:srgbClr val="F8F8F8"/>
      </a:lt1>
      <a:dk2>
        <a:srgbClr val="1F497D"/>
      </a:dk2>
      <a:lt2>
        <a:srgbClr val="EEECE1"/>
      </a:lt2>
      <a:accent1>
        <a:srgbClr val="6ABFE2"/>
      </a:accent1>
      <a:accent2>
        <a:srgbClr val="E0B8AE"/>
      </a:accent2>
      <a:accent3>
        <a:srgbClr val="BEBEBE"/>
      </a:accent3>
      <a:accent4>
        <a:srgbClr val="A39299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604</Words>
  <Application>Microsoft Office PowerPoint</Application>
  <PresentationFormat>Экран (16:9)</PresentationFormat>
  <Paragraphs>88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Manrope Light</vt:lpstr>
      <vt:lpstr>Manrope</vt:lpstr>
      <vt:lpstr>Arial</vt:lpstr>
      <vt:lpstr>Cambria Math</vt:lpstr>
      <vt:lpstr>Manrope Medium</vt:lpstr>
      <vt:lpstr>Simple Light</vt:lpstr>
      <vt:lpstr>Desert</vt:lpstr>
      <vt:lpstr>Роевая модификация алгоритма оптимизации SoFA</vt:lpstr>
      <vt:lpstr>Мотивация</vt:lpstr>
      <vt:lpstr>Участники проекта</vt:lpstr>
      <vt:lpstr>Презентация PowerPoint</vt:lpstr>
      <vt:lpstr>Организация работы</vt:lpstr>
      <vt:lpstr>Описание задачи</vt:lpstr>
      <vt:lpstr>Описание задачи</vt:lpstr>
      <vt:lpstr>Сравнительный анализ: алгоритмы и тестовые функции</vt:lpstr>
      <vt:lpstr>Controlled Random Search (CRS)</vt:lpstr>
      <vt:lpstr>Функция Растригина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Роевая модификация алгоритма оптимизации SoFA</dc:title>
  <cp:lastModifiedBy>Алексей</cp:lastModifiedBy>
  <cp:revision>18</cp:revision>
  <dcterms:modified xsi:type="dcterms:W3CDTF">2026-03-06T08:46:00Z</dcterms:modified>
</cp:coreProperties>
</file>