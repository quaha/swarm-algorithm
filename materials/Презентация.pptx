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8" r:id="rId1"/>
    <p:sldMasterId id="2147483699" r:id="rId2"/>
  </p:sldMasterIdLst>
  <p:notesMasterIdLst>
    <p:notesMasterId r:id="rId13"/>
  </p:notesMasterIdLst>
  <p:sldIdLst>
    <p:sldId id="258" r:id="rId3"/>
    <p:sldId id="260" r:id="rId4"/>
    <p:sldId id="269" r:id="rId5"/>
    <p:sldId id="259" r:id="rId6"/>
    <p:sldId id="262" r:id="rId7"/>
    <p:sldId id="263" r:id="rId8"/>
    <p:sldId id="273" r:id="rId9"/>
    <p:sldId id="264" r:id="rId10"/>
    <p:sldId id="265" r:id="rId11"/>
    <p:sldId id="272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Light" panose="020B0604020202020204" charset="0"/>
      <p:regular r:id="rId16"/>
      <p:bold r:id="rId17"/>
    </p:embeddedFont>
    <p:embeddedFont>
      <p:font typeface="Manrope Medium" panose="020B060402020202020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00" d="100"/>
          <a:sy n="200" d="100"/>
        </p:scale>
        <p:origin x="654" y="1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60a8deabce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260a8deabce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60a8deabce_2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260a8deabce_2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60a8deabce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g260a8deabce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60a8deabce_2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260a8deabce_2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60a8deabce_2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260a8deabce_2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60a8deabce_2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60a8deabce_2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60a8deabce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260a8deabce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7686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0a8deabce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g260a8deabc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60a8deabce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60a8deabce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60a8deabce_0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g260a8deabce_0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455150" y="1643225"/>
            <a:ext cx="3960300" cy="2142600"/>
          </a:xfrm>
          <a:prstGeom prst="rect">
            <a:avLst/>
          </a:prstGeom>
        </p:spPr>
        <p:txBody>
          <a:bodyPr spcFirstLastPara="1" wrap="square" lIns="45725" tIns="22850" rIns="45725" bIns="22850" anchor="t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4000" b="1">
                <a:solidFill>
                  <a:srgbClr val="33333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472875" y="3777000"/>
            <a:ext cx="3309900" cy="225300"/>
          </a:xfrm>
          <a:prstGeom prst="rect">
            <a:avLst/>
          </a:prstGeom>
        </p:spPr>
        <p:txBody>
          <a:bodyPr spcFirstLastPara="1" wrap="square" lIns="45725" tIns="22850" rIns="45725" bIns="22850" anchor="t" anchorCtr="0">
            <a:normAutofit/>
          </a:bodyPr>
          <a:lstStyle>
            <a:lvl1pPr lvl="0"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-21625" y="4918325"/>
            <a:ext cx="9165616" cy="225171"/>
          </a:xfrm>
          <a:custGeom>
            <a:avLst/>
            <a:gdLst/>
            <a:ahLst/>
            <a:cxnLst/>
            <a:rect l="l" t="t" r="r" b="b"/>
            <a:pathLst>
              <a:path w="5701783" h="152400" extrusionOk="0">
                <a:moveTo>
                  <a:pt x="0" y="0"/>
                </a:moveTo>
                <a:lnTo>
                  <a:pt x="5701783" y="0"/>
                </a:lnTo>
                <a:lnTo>
                  <a:pt x="5701783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/>
        </p:nvSpPr>
        <p:spPr>
          <a:xfrm>
            <a:off x="0" y="4918225"/>
            <a:ext cx="9137107" cy="225171"/>
          </a:xfrm>
          <a:custGeom>
            <a:avLst/>
            <a:gdLst/>
            <a:ahLst/>
            <a:cxnLst/>
            <a:rect l="l" t="t" r="r" b="b"/>
            <a:pathLst>
              <a:path w="5701783" h="152400" extrusionOk="0">
                <a:moveTo>
                  <a:pt x="0" y="0"/>
                </a:moveTo>
                <a:lnTo>
                  <a:pt x="5701783" y="0"/>
                </a:lnTo>
                <a:lnTo>
                  <a:pt x="5701783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461050" y="1500450"/>
            <a:ext cx="3960300" cy="21426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rgbClr val="33333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/>
          <p:nvPr/>
        </p:nvSpPr>
        <p:spPr>
          <a:xfrm>
            <a:off x="1862" y="0"/>
            <a:ext cx="9140275" cy="225171"/>
          </a:xfrm>
          <a:custGeom>
            <a:avLst/>
            <a:gdLst/>
            <a:ahLst/>
            <a:cxnLst/>
            <a:rect l="l" t="t" r="r" b="b"/>
            <a:pathLst>
              <a:path w="6186311" h="152400" extrusionOk="0">
                <a:moveTo>
                  <a:pt x="0" y="0"/>
                </a:moveTo>
                <a:lnTo>
                  <a:pt x="6186311" y="0"/>
                </a:lnTo>
                <a:lnTo>
                  <a:pt x="6186311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17"/>
          <p:cNvSpPr txBox="1">
            <a:spLocks noGrp="1"/>
          </p:cNvSpPr>
          <p:nvPr>
            <p:ph type="title"/>
          </p:nvPr>
        </p:nvSpPr>
        <p:spPr>
          <a:xfrm>
            <a:off x="452625" y="575025"/>
            <a:ext cx="5280900" cy="354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01605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9120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00000" y="344200"/>
            <a:ext cx="76563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nrope"/>
              <a:buNone/>
              <a:defRPr sz="22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anrope"/>
              <a:buNone/>
              <a:defRPr sz="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anrope"/>
              <a:buNone/>
              <a:defRPr sz="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anrope"/>
              <a:buNone/>
              <a:defRPr sz="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anrope"/>
              <a:buNone/>
              <a:defRPr sz="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anrope"/>
              <a:buNone/>
              <a:defRPr sz="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anrope"/>
              <a:buNone/>
              <a:defRPr sz="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anrope"/>
              <a:buNone/>
              <a:defRPr sz="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anrope"/>
              <a:buNone/>
              <a:defRPr sz="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00000" y="1148850"/>
            <a:ext cx="5380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•"/>
              <a:defRPr sz="16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–"/>
              <a:defRPr sz="14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•"/>
              <a:defRPr sz="12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–"/>
              <a:defRPr sz="10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»"/>
              <a:defRPr sz="10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•"/>
              <a:defRPr sz="10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•"/>
              <a:defRPr sz="10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•"/>
              <a:defRPr sz="10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•"/>
              <a:defRPr sz="10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700" r:id="rId3"/>
    <p:sldLayoutId id="214748370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uaha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github.com/DtheMakeeeR" TargetMode="External"/><Relationship Id="rId5" Type="http://schemas.openxmlformats.org/officeDocument/2006/relationships/hyperlink" Target="https://github.com/AlexixRugis" TargetMode="External"/><Relationship Id="rId4" Type="http://schemas.openxmlformats.org/officeDocument/2006/relationships/hyperlink" Target="https://github.com/Projectius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uaha/swarm-algorith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57"/>
          <p:cNvGrpSpPr/>
          <p:nvPr/>
        </p:nvGrpSpPr>
        <p:grpSpPr>
          <a:xfrm>
            <a:off x="-35475" y="-4683"/>
            <a:ext cx="9191400" cy="1092809"/>
            <a:chOff x="-35475" y="-4683"/>
            <a:chExt cx="9191400" cy="1092809"/>
          </a:xfrm>
        </p:grpSpPr>
        <p:cxnSp>
          <p:nvCxnSpPr>
            <p:cNvPr id="248" name="Google Shape;248;p57"/>
            <p:cNvCxnSpPr/>
            <p:nvPr/>
          </p:nvCxnSpPr>
          <p:spPr>
            <a:xfrm rot="-5400000">
              <a:off x="2495003" y="535767"/>
              <a:ext cx="1080900" cy="0"/>
            </a:xfrm>
            <a:prstGeom prst="straightConnector1">
              <a:avLst/>
            </a:pr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p57"/>
            <p:cNvCxnSpPr/>
            <p:nvPr/>
          </p:nvCxnSpPr>
          <p:spPr>
            <a:xfrm rot="-5400000">
              <a:off x="6405577" y="535767"/>
              <a:ext cx="1080900" cy="0"/>
            </a:xfrm>
            <a:prstGeom prst="straightConnector1">
              <a:avLst/>
            </a:pr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0" name="Google Shape;250;p57"/>
            <p:cNvCxnSpPr/>
            <p:nvPr/>
          </p:nvCxnSpPr>
          <p:spPr>
            <a:xfrm>
              <a:off x="-35475" y="1088125"/>
              <a:ext cx="9191400" cy="0"/>
            </a:xfrm>
            <a:prstGeom prst="straightConnector1">
              <a:avLst/>
            </a:pr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53" name="Google Shape;253;p57"/>
          <p:cNvSpPr txBox="1"/>
          <p:nvPr/>
        </p:nvSpPr>
        <p:spPr>
          <a:xfrm>
            <a:off x="225187" y="274494"/>
            <a:ext cx="2632307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i="0" u="none" strike="noStrike" cap="none" dirty="0">
                <a:solidFill>
                  <a:srgbClr val="333333"/>
                </a:solidFill>
                <a:latin typeface="Manrope Light"/>
                <a:ea typeface="Manrope Light"/>
                <a:cs typeface="Manrope Light"/>
                <a:sym typeface="Manrope Light"/>
              </a:rPr>
              <a:t>Нижегородский государственный университет им. Н. И. Лобачевского</a:t>
            </a:r>
            <a:endParaRPr sz="1200" dirty="0">
              <a:solidFill>
                <a:srgbClr val="333333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255" name="Google Shape;255;p57"/>
          <p:cNvSpPr txBox="1">
            <a:spLocks noGrp="1"/>
          </p:cNvSpPr>
          <p:nvPr>
            <p:ph type="title"/>
          </p:nvPr>
        </p:nvSpPr>
        <p:spPr>
          <a:xfrm>
            <a:off x="455149" y="1643224"/>
            <a:ext cx="5123718" cy="1871501"/>
          </a:xfrm>
          <a:prstGeom prst="rect">
            <a:avLst/>
          </a:prstGeom>
        </p:spPr>
        <p:txBody>
          <a:bodyPr spcFirstLastPara="1" wrap="square" lIns="45725" tIns="22850" rIns="45725" bIns="228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ru-RU" dirty="0">
                <a:solidFill>
                  <a:schemeClr val="dk1"/>
                </a:solidFill>
              </a:rPr>
              <a:t>Роевая модификация алгоритма оптимизации </a:t>
            </a:r>
            <a:r>
              <a:rPr lang="en-US" dirty="0" err="1">
                <a:solidFill>
                  <a:schemeClr val="dk1"/>
                </a:solidFill>
              </a:rPr>
              <a:t>SoFA</a:t>
            </a:r>
            <a:endParaRPr lang="en-GB" dirty="0"/>
          </a:p>
        </p:txBody>
      </p:sp>
      <p:sp>
        <p:nvSpPr>
          <p:cNvPr id="4" name="Google Shape;253;p57">
            <a:extLst>
              <a:ext uri="{FF2B5EF4-FFF2-40B4-BE49-F238E27FC236}">
                <a16:creationId xmlns:a16="http://schemas.microsoft.com/office/drawing/2014/main" id="{5DB724D2-8200-6C81-E95E-F4A894DEF58C}"/>
              </a:ext>
            </a:extLst>
          </p:cNvPr>
          <p:cNvSpPr txBox="1"/>
          <p:nvPr/>
        </p:nvSpPr>
        <p:spPr>
          <a:xfrm>
            <a:off x="3600768" y="293511"/>
            <a:ext cx="2632307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i="0" u="none" strike="noStrike" cap="none" dirty="0">
                <a:solidFill>
                  <a:srgbClr val="333333"/>
                </a:solidFill>
                <a:latin typeface="Manrope Light"/>
                <a:ea typeface="Manrope Light"/>
                <a:cs typeface="Manrope Light"/>
                <a:sym typeface="Manrope Light"/>
              </a:rPr>
              <a:t>Математические модели процессов отбора</a:t>
            </a:r>
            <a:endParaRPr sz="1200" dirty="0">
              <a:solidFill>
                <a:srgbClr val="333333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5" name="Google Shape;253;p57">
            <a:extLst>
              <a:ext uri="{FF2B5EF4-FFF2-40B4-BE49-F238E27FC236}">
                <a16:creationId xmlns:a16="http://schemas.microsoft.com/office/drawing/2014/main" id="{EE53579A-C6C1-6E07-5298-6F7B81A8CC19}"/>
              </a:ext>
            </a:extLst>
          </p:cNvPr>
          <p:cNvSpPr txBox="1"/>
          <p:nvPr/>
        </p:nvSpPr>
        <p:spPr>
          <a:xfrm>
            <a:off x="6755527" y="403760"/>
            <a:ext cx="2632307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333333"/>
                </a:solidFill>
                <a:latin typeface="Manrope Light"/>
                <a:ea typeface="Manrope Light"/>
                <a:cs typeface="Manrope Light"/>
                <a:sym typeface="Manrope Light"/>
              </a:rPr>
              <a:t>Проектная работа</a:t>
            </a:r>
            <a:endParaRPr sz="1200" dirty="0">
              <a:solidFill>
                <a:srgbClr val="333333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9"/>
          <p:cNvSpPr txBox="1"/>
          <p:nvPr/>
        </p:nvSpPr>
        <p:spPr>
          <a:xfrm>
            <a:off x="452625" y="1106000"/>
            <a:ext cx="4407600" cy="396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30200" marR="0" lvl="1" indent="-1397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Manrope"/>
              <a:buChar char="•"/>
            </a:pPr>
            <a:r>
              <a:rPr lang="ru-RU" sz="1000" b="1" i="0" u="none" strike="noStrike" cap="none" dirty="0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Актуальность </a:t>
            </a:r>
            <a:r>
              <a:rPr lang="ru-RU" sz="1000" b="1" dirty="0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глобальной </a:t>
            </a:r>
            <a:r>
              <a:rPr lang="ru-RU" sz="1000" b="1" i="0" u="none" strike="noStrike" cap="none" dirty="0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оптимизации: </a:t>
            </a:r>
            <a:r>
              <a:rPr lang="ru-RU" sz="1000" i="0" u="none" strike="noStrike" cap="none" dirty="0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Современные научные и инженерные задачи требуют эффективных методов поиска оптимальных решений. Алгоритмы оптимизации — ключевой и наиболее распространенный способ решения таких задач</a:t>
            </a:r>
            <a:r>
              <a:rPr lang="en-US" sz="1000" i="0" u="none" strike="noStrike" cap="none" dirty="0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;</a:t>
            </a:r>
            <a:endParaRPr sz="1000" dirty="0">
              <a:solidFill>
                <a:srgbClr val="333333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330200" marR="0" lvl="1" indent="-139700" algn="l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Manrope Medium"/>
              <a:buChar char="•"/>
            </a:pPr>
            <a:r>
              <a:rPr lang="ru-RU" sz="1000" b="1" dirty="0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Преимущества </a:t>
            </a:r>
            <a:r>
              <a:rPr lang="ru-RU" sz="1000" b="1" dirty="0" err="1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SoFA</a:t>
            </a:r>
            <a:r>
              <a:rPr lang="ru-RU" sz="1000" b="1" dirty="0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:</a:t>
            </a:r>
            <a:r>
              <a:rPr lang="ru-RU" sz="1000" dirty="0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Один из лидирующих алгоритмов в данной области</a:t>
            </a:r>
            <a:r>
              <a:rPr lang="en-US" sz="1000" dirty="0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, </a:t>
            </a:r>
            <a:r>
              <a:rPr lang="ru-RU" sz="1000" dirty="0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обладает важным свойством — сходимостью по вероятности к глобальному оптимуму</a:t>
            </a:r>
            <a:r>
              <a:rPr lang="en-US" sz="1000" dirty="0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;</a:t>
            </a:r>
            <a:endParaRPr lang="ru-RU" sz="1000" dirty="0">
              <a:solidFill>
                <a:srgbClr val="333333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330200" marR="0" lvl="1" indent="-139700" algn="l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Manrope Medium"/>
              <a:buChar char="•"/>
            </a:pPr>
            <a:r>
              <a:rPr lang="ru-RU" sz="1000" b="1" dirty="0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Цель модификации: </a:t>
            </a:r>
            <a:r>
              <a:rPr lang="ru-RU" sz="1000" dirty="0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Роевая модификация призвана привнести механизмы коллективного взаимодействия, что может привести как к ускорению поиска решения, так и к повышению его точности</a:t>
            </a:r>
            <a:r>
              <a:rPr lang="en-US" sz="1000" dirty="0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;</a:t>
            </a:r>
            <a:endParaRPr lang="ru-RU" sz="1000" dirty="0">
              <a:solidFill>
                <a:srgbClr val="333333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330200" marR="0" lvl="1" indent="-139700" algn="l" rtl="0">
              <a:lnSpc>
                <a:spcPct val="160000"/>
              </a:lnSpc>
              <a:spcBef>
                <a:spcPts val="1000"/>
              </a:spcBef>
              <a:spcAft>
                <a:spcPts val="1000"/>
              </a:spcAft>
              <a:buClr>
                <a:srgbClr val="333333"/>
              </a:buClr>
              <a:buSzPts val="1000"/>
              <a:buFont typeface="Manrope Medium"/>
              <a:buChar char="•"/>
            </a:pPr>
            <a:r>
              <a:rPr lang="ru-RU" sz="1000" b="1" dirty="0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Практическая значимость: </a:t>
            </a:r>
            <a:r>
              <a:rPr lang="ru-RU" sz="1000" dirty="0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Удачная оптимизация позволит сократить временные и вычислительные затраты на решение сложных оптимизационных задач, расширяя границы их применимости в реальных приложениях.</a:t>
            </a:r>
            <a:endParaRPr sz="1000" dirty="0">
              <a:solidFill>
                <a:srgbClr val="333333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285" name="Google Shape;285;p59"/>
          <p:cNvSpPr txBox="1">
            <a:spLocks noGrp="1"/>
          </p:cNvSpPr>
          <p:nvPr>
            <p:ph type="title"/>
          </p:nvPr>
        </p:nvSpPr>
        <p:spPr>
          <a:xfrm>
            <a:off x="452625" y="575025"/>
            <a:ext cx="4326900" cy="354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Мотивация</a:t>
            </a:r>
            <a:endParaRPr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4F36CC9-2E80-C75B-6B27-0A5680FCD0A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2468" y="233364"/>
            <a:ext cx="3881532" cy="4910136"/>
          </a:xfrm>
          <a:prstGeom prst="rect">
            <a:avLst/>
          </a:prstGeom>
          <a:effectLst>
            <a:softEdge rad="2540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8"/>
          <p:cNvSpPr txBox="1">
            <a:spLocks noGrp="1"/>
          </p:cNvSpPr>
          <p:nvPr>
            <p:ph type="title"/>
          </p:nvPr>
        </p:nvSpPr>
        <p:spPr>
          <a:xfrm>
            <a:off x="452625" y="575025"/>
            <a:ext cx="5280900" cy="354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Участники проекта</a:t>
            </a:r>
            <a:endParaRPr dirty="0"/>
          </a:p>
        </p:txBody>
      </p:sp>
      <p:sp>
        <p:nvSpPr>
          <p:cNvPr id="439" name="Google Shape;439;p68"/>
          <p:cNvSpPr txBox="1"/>
          <p:nvPr/>
        </p:nvSpPr>
        <p:spPr>
          <a:xfrm>
            <a:off x="452625" y="1763475"/>
            <a:ext cx="32061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900" dirty="0">
                <a:latin typeface="Manrope"/>
                <a:ea typeface="Manrope"/>
                <a:cs typeface="Manrope"/>
                <a:sym typeface="Manrope"/>
              </a:rPr>
              <a:t>Студент группы </a:t>
            </a:r>
            <a:r>
              <a:rPr lang="ru-RU" sz="900" dirty="0" err="1">
                <a:latin typeface="Manrope"/>
                <a:ea typeface="Manrope"/>
                <a:cs typeface="Manrope"/>
                <a:sym typeface="Manrope"/>
              </a:rPr>
              <a:t>3823Б1ФИ3</a:t>
            </a:r>
            <a:endParaRPr lang="en-US" sz="900" dirty="0">
              <a:latin typeface="Manrope"/>
              <a:ea typeface="Manrope"/>
              <a:cs typeface="Manrope"/>
              <a:sym typeface="Manrope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latin typeface="Manrope"/>
                <a:ea typeface="Manrope"/>
                <a:cs typeface="Manrope"/>
                <a:sym typeface="Manrope"/>
              </a:rPr>
              <a:t>Telegram: @</a:t>
            </a:r>
            <a:r>
              <a:rPr lang="en-US" sz="900" dirty="0" err="1">
                <a:latin typeface="Manrope"/>
                <a:ea typeface="Manrope"/>
                <a:cs typeface="Manrope"/>
                <a:sym typeface="Manrope"/>
              </a:rPr>
              <a:t>TeaPartyIsComming</a:t>
            </a:r>
            <a:endParaRPr lang="en-US" sz="900" dirty="0">
              <a:latin typeface="Manrope"/>
              <a:ea typeface="Manrope"/>
              <a:cs typeface="Manrope"/>
              <a:sym typeface="Manrope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900" dirty="0">
                <a:latin typeface="Manrope"/>
                <a:ea typeface="Manrope"/>
                <a:cs typeface="Manrope"/>
                <a:sym typeface="Manrope"/>
              </a:rPr>
              <a:t>E</a:t>
            </a:r>
            <a:r>
              <a:rPr lang="en-US" sz="900" dirty="0">
                <a:latin typeface="Manrope"/>
                <a:ea typeface="Manrope"/>
                <a:cs typeface="Manrope"/>
                <a:sym typeface="Manrope"/>
              </a:rPr>
              <a:t>-mail: </a:t>
            </a:r>
            <a:r>
              <a:rPr lang="en-US" sz="900" dirty="0" err="1">
                <a:latin typeface="Manrope"/>
                <a:ea typeface="Manrope"/>
                <a:cs typeface="Manrope"/>
                <a:sym typeface="Manrope"/>
              </a:rPr>
              <a:t>ArtemRomanov2017@yandex.ru</a:t>
            </a:r>
            <a:endParaRPr lang="en-US" sz="900" dirty="0">
              <a:latin typeface="Manrope"/>
              <a:ea typeface="Manrope"/>
              <a:cs typeface="Manrope"/>
              <a:sym typeface="Manrope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latin typeface="Manrope"/>
                <a:ea typeface="Manrope"/>
                <a:cs typeface="Manrope"/>
                <a:sym typeface="Manrope"/>
              </a:rPr>
              <a:t>GitHub: </a:t>
            </a:r>
            <a:r>
              <a:rPr lang="en-US" sz="900" dirty="0">
                <a:latin typeface="Manrope"/>
                <a:ea typeface="Manrope"/>
                <a:cs typeface="Manrope"/>
                <a:sym typeface="Manrope"/>
                <a:hlinkClick r:id="rId3"/>
              </a:rPr>
              <a:t>https://</a:t>
            </a:r>
            <a:r>
              <a:rPr lang="en-US" sz="900" dirty="0" err="1">
                <a:latin typeface="Manrope"/>
                <a:ea typeface="Manrope"/>
                <a:cs typeface="Manrope"/>
                <a:sym typeface="Manrope"/>
                <a:hlinkClick r:id="rId3"/>
              </a:rPr>
              <a:t>github.com</a:t>
            </a:r>
            <a:r>
              <a:rPr lang="en-US" sz="900" dirty="0">
                <a:latin typeface="Manrope"/>
                <a:ea typeface="Manrope"/>
                <a:cs typeface="Manrope"/>
                <a:sym typeface="Manrope"/>
                <a:hlinkClick r:id="rId3"/>
              </a:rPr>
              <a:t>/</a:t>
            </a:r>
            <a:r>
              <a:rPr lang="en-US" sz="900" dirty="0" err="1">
                <a:latin typeface="Manrope"/>
                <a:ea typeface="Manrope"/>
                <a:cs typeface="Manrope"/>
                <a:sym typeface="Manrope"/>
                <a:hlinkClick r:id="rId3"/>
              </a:rPr>
              <a:t>Quaha</a:t>
            </a:r>
            <a:endParaRPr lang="en-US"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0" name="Google Shape;440;p68"/>
          <p:cNvSpPr txBox="1"/>
          <p:nvPr/>
        </p:nvSpPr>
        <p:spPr>
          <a:xfrm>
            <a:off x="452625" y="1457200"/>
            <a:ext cx="3206100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333333"/>
                </a:solidFill>
                <a:latin typeface="Manrope Medium"/>
                <a:ea typeface="Manrope"/>
                <a:cs typeface="Manrope"/>
                <a:sym typeface="Manrope Medium"/>
              </a:rPr>
              <a:t>Артем Романов (Координатор)</a:t>
            </a:r>
            <a:endParaRPr sz="5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1" name="Google Shape;441;p68"/>
          <p:cNvSpPr txBox="1"/>
          <p:nvPr/>
        </p:nvSpPr>
        <p:spPr>
          <a:xfrm>
            <a:off x="452625" y="3089000"/>
            <a:ext cx="32061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900" dirty="0">
                <a:latin typeface="Manrope"/>
                <a:ea typeface="Manrope"/>
                <a:cs typeface="Manrope"/>
                <a:sym typeface="Manrope"/>
              </a:rPr>
              <a:t>Студент группы </a:t>
            </a:r>
            <a:r>
              <a:rPr lang="ru-RU" sz="900" dirty="0" err="1">
                <a:latin typeface="Manrope"/>
                <a:ea typeface="Manrope"/>
                <a:cs typeface="Manrope"/>
                <a:sym typeface="Manrope"/>
              </a:rPr>
              <a:t>3823Б1ФИ3</a:t>
            </a:r>
            <a:endParaRPr lang="ru-RU" sz="900" dirty="0">
              <a:latin typeface="Manrope"/>
              <a:ea typeface="Manrope"/>
              <a:cs typeface="Manrope"/>
              <a:sym typeface="Manrope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900" dirty="0">
                <a:latin typeface="Manrope"/>
                <a:ea typeface="Manrope"/>
                <a:cs typeface="Manrope"/>
                <a:sym typeface="Manrope"/>
              </a:rPr>
              <a:t>Telegram:</a:t>
            </a:r>
            <a:r>
              <a:rPr lang="en-US" sz="900" dirty="0">
                <a:latin typeface="Manrope"/>
                <a:ea typeface="Manrope"/>
                <a:cs typeface="Manrope"/>
                <a:sym typeface="Manrope"/>
              </a:rPr>
              <a:t> @</a:t>
            </a:r>
            <a:r>
              <a:rPr lang="en-US" sz="900" dirty="0" err="1">
                <a:latin typeface="Manrope"/>
                <a:ea typeface="Manrope"/>
                <a:cs typeface="Manrope"/>
                <a:sym typeface="Manrope"/>
              </a:rPr>
              <a:t>Projectius</a:t>
            </a:r>
            <a:endParaRPr lang="en-US" sz="900" dirty="0">
              <a:latin typeface="Manrope"/>
              <a:ea typeface="Manrope"/>
              <a:cs typeface="Manrope"/>
              <a:sym typeface="Manrope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900" dirty="0">
                <a:latin typeface="Manrope"/>
                <a:ea typeface="Manrope"/>
                <a:cs typeface="Manrope"/>
                <a:sym typeface="Manrope"/>
              </a:rPr>
              <a:t>E</a:t>
            </a:r>
            <a:r>
              <a:rPr lang="en-US" sz="900" dirty="0">
                <a:latin typeface="Manrope"/>
                <a:ea typeface="Manrope"/>
                <a:cs typeface="Manrope"/>
                <a:sym typeface="Manrope"/>
              </a:rPr>
              <a:t>-mail</a:t>
            </a:r>
            <a:r>
              <a:rPr lang="ru-RU" sz="900" dirty="0">
                <a:latin typeface="Manrope"/>
                <a:ea typeface="Manrope"/>
                <a:cs typeface="Manrope"/>
                <a:sym typeface="Manrope"/>
              </a:rPr>
              <a:t>:</a:t>
            </a:r>
            <a:r>
              <a:rPr lang="en-US" sz="900" dirty="0"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en-US" sz="900" dirty="0" err="1">
                <a:latin typeface="Manrope"/>
                <a:ea typeface="Manrope"/>
                <a:cs typeface="Manrope"/>
                <a:sym typeface="Manrope"/>
              </a:rPr>
              <a:t>sprojectiustech@gmail.com</a:t>
            </a:r>
            <a:endParaRPr lang="en-US" sz="900" dirty="0">
              <a:latin typeface="Manrope"/>
              <a:ea typeface="Manrope"/>
              <a:cs typeface="Manrope"/>
              <a:sym typeface="Manrope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latin typeface="Manrope"/>
                <a:ea typeface="Manrope"/>
                <a:cs typeface="Manrope"/>
                <a:sym typeface="Manrope"/>
              </a:rPr>
              <a:t>GitHub: </a:t>
            </a:r>
            <a:r>
              <a:rPr lang="en-US" sz="900" dirty="0">
                <a:latin typeface="Manrope"/>
                <a:ea typeface="Manrope"/>
                <a:cs typeface="Manrope"/>
                <a:sym typeface="Manrope"/>
                <a:hlinkClick r:id="rId4"/>
              </a:rPr>
              <a:t>https://</a:t>
            </a:r>
            <a:r>
              <a:rPr lang="en-US" sz="900" dirty="0" err="1">
                <a:latin typeface="Manrope"/>
                <a:ea typeface="Manrope"/>
                <a:cs typeface="Manrope"/>
                <a:sym typeface="Manrope"/>
                <a:hlinkClick r:id="rId4"/>
              </a:rPr>
              <a:t>github.com</a:t>
            </a:r>
            <a:r>
              <a:rPr lang="en-US" sz="900" dirty="0">
                <a:latin typeface="Manrope"/>
                <a:ea typeface="Manrope"/>
                <a:cs typeface="Manrope"/>
                <a:sym typeface="Manrope"/>
                <a:hlinkClick r:id="rId4"/>
              </a:rPr>
              <a:t>/</a:t>
            </a:r>
            <a:r>
              <a:rPr lang="en-US" sz="900" dirty="0" err="1">
                <a:latin typeface="Manrope"/>
                <a:ea typeface="Manrope"/>
                <a:cs typeface="Manrope"/>
                <a:sym typeface="Manrope"/>
                <a:hlinkClick r:id="rId4"/>
              </a:rPr>
              <a:t>Projectius</a:t>
            </a:r>
            <a:endParaRPr lang="ru-RU"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2" name="Google Shape;442;p68"/>
          <p:cNvSpPr txBox="1"/>
          <p:nvPr/>
        </p:nvSpPr>
        <p:spPr>
          <a:xfrm>
            <a:off x="452625" y="2782725"/>
            <a:ext cx="3206100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333333"/>
                </a:solidFill>
                <a:latin typeface="Manrope Medium"/>
                <a:ea typeface="Manrope"/>
                <a:cs typeface="Manrope"/>
                <a:sym typeface="Manrope Medium"/>
              </a:rPr>
              <a:t>Семён Константинов</a:t>
            </a:r>
            <a:endParaRPr sz="5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3" name="Google Shape;443;p68"/>
          <p:cNvSpPr txBox="1"/>
          <p:nvPr/>
        </p:nvSpPr>
        <p:spPr>
          <a:xfrm>
            <a:off x="4439975" y="1763475"/>
            <a:ext cx="32061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900" dirty="0">
                <a:latin typeface="Manrope"/>
                <a:ea typeface="Manrope"/>
                <a:cs typeface="Manrope"/>
                <a:sym typeface="Manrope"/>
              </a:rPr>
              <a:t>Студент группы </a:t>
            </a:r>
            <a:r>
              <a:rPr lang="ru-RU" sz="900" dirty="0" err="1">
                <a:latin typeface="Manrope"/>
                <a:ea typeface="Manrope"/>
                <a:cs typeface="Manrope"/>
                <a:sym typeface="Manrope"/>
              </a:rPr>
              <a:t>3823Б1ФИ3</a:t>
            </a:r>
            <a:endParaRPr lang="ru-RU" sz="900" dirty="0">
              <a:latin typeface="Manrope"/>
              <a:ea typeface="Manrope"/>
              <a:cs typeface="Manrope"/>
              <a:sym typeface="Manrope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900" dirty="0">
                <a:latin typeface="Manrope"/>
                <a:ea typeface="Manrope"/>
                <a:cs typeface="Manrope"/>
                <a:sym typeface="Manrope"/>
              </a:rPr>
              <a:t>Telegram: </a:t>
            </a: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@</a:t>
            </a:r>
            <a:r>
              <a:rPr lang="en-GB" sz="900" dirty="0" err="1">
                <a:latin typeface="Manrope"/>
                <a:ea typeface="Manrope"/>
                <a:cs typeface="Manrope"/>
                <a:sym typeface="Manrope"/>
              </a:rPr>
              <a:t>alexixrugis</a:t>
            </a:r>
            <a:endParaRPr lang="en-US" sz="900" dirty="0">
              <a:highlight>
                <a:srgbClr val="FFFF00"/>
              </a:highlight>
              <a:latin typeface="Manrope"/>
              <a:ea typeface="Manrope"/>
              <a:cs typeface="Manrope"/>
              <a:sym typeface="Manrope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900" dirty="0">
                <a:latin typeface="Manrope"/>
                <a:ea typeface="Manrope"/>
                <a:cs typeface="Manrope"/>
                <a:sym typeface="Manrope"/>
              </a:rPr>
              <a:t>E</a:t>
            </a:r>
            <a:r>
              <a:rPr lang="en-US" sz="900" dirty="0">
                <a:latin typeface="Manrope"/>
                <a:ea typeface="Manrope"/>
                <a:cs typeface="Manrope"/>
                <a:sym typeface="Manrope"/>
              </a:rPr>
              <a:t>-mail</a:t>
            </a:r>
            <a:r>
              <a:rPr lang="ru-RU" sz="900" dirty="0">
                <a:latin typeface="Manrope"/>
                <a:ea typeface="Manrope"/>
                <a:cs typeface="Manrope"/>
                <a:sym typeface="Manrope"/>
              </a:rPr>
              <a:t>: </a:t>
            </a:r>
            <a:r>
              <a:rPr lang="en-GB" sz="900" dirty="0" err="1">
                <a:latin typeface="Manrope"/>
                <a:ea typeface="Manrope"/>
                <a:cs typeface="Manrope"/>
                <a:sym typeface="Manrope"/>
              </a:rPr>
              <a:t>alexix222@yandex.ru</a:t>
            </a:r>
            <a:endParaRPr lang="en-US" sz="900" dirty="0">
              <a:highlight>
                <a:srgbClr val="FFFF00"/>
              </a:highlight>
              <a:latin typeface="Manrope"/>
              <a:ea typeface="Manrope"/>
              <a:cs typeface="Manrope"/>
              <a:sym typeface="Manrope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latin typeface="Manrope"/>
                <a:ea typeface="Manrope"/>
                <a:cs typeface="Manrope"/>
                <a:sym typeface="Manrope"/>
              </a:rPr>
              <a:t>GitHub: </a:t>
            </a:r>
            <a:r>
              <a:rPr lang="en-US" sz="900" dirty="0">
                <a:latin typeface="Manrope"/>
                <a:ea typeface="Manrope"/>
                <a:cs typeface="Manrope"/>
                <a:sym typeface="Manrope"/>
                <a:hlinkClick r:id="rId5"/>
              </a:rPr>
              <a:t>https://</a:t>
            </a:r>
            <a:r>
              <a:rPr lang="en-US" sz="900" dirty="0" err="1">
                <a:latin typeface="Manrope"/>
                <a:ea typeface="Manrope"/>
                <a:cs typeface="Manrope"/>
                <a:sym typeface="Manrope"/>
                <a:hlinkClick r:id="rId5"/>
              </a:rPr>
              <a:t>github.com</a:t>
            </a:r>
            <a:r>
              <a:rPr lang="en-US" sz="900" dirty="0">
                <a:latin typeface="Manrope"/>
                <a:ea typeface="Manrope"/>
                <a:cs typeface="Manrope"/>
                <a:sym typeface="Manrope"/>
                <a:hlinkClick r:id="rId5"/>
              </a:rPr>
              <a:t>/</a:t>
            </a:r>
            <a:r>
              <a:rPr lang="en-US" sz="900" dirty="0" err="1">
                <a:latin typeface="Manrope"/>
                <a:ea typeface="Manrope"/>
                <a:cs typeface="Manrope"/>
                <a:sym typeface="Manrope"/>
                <a:hlinkClick r:id="rId5"/>
              </a:rPr>
              <a:t>AlexixRugis</a:t>
            </a:r>
            <a:endParaRPr lang="en-GB"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4" name="Google Shape;444;p68"/>
          <p:cNvSpPr txBox="1"/>
          <p:nvPr/>
        </p:nvSpPr>
        <p:spPr>
          <a:xfrm>
            <a:off x="4439975" y="1457200"/>
            <a:ext cx="3206100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333333"/>
                </a:solidFill>
                <a:latin typeface="Manrope Medium"/>
                <a:ea typeface="Manrope"/>
                <a:cs typeface="Manrope"/>
                <a:sym typeface="Manrope Medium"/>
              </a:rPr>
              <a:t>Алексей </a:t>
            </a:r>
            <a:r>
              <a:rPr lang="ru-RU" sz="1300" dirty="0" err="1">
                <a:solidFill>
                  <a:srgbClr val="333333"/>
                </a:solidFill>
                <a:latin typeface="Manrope Medium"/>
                <a:ea typeface="Manrope"/>
                <a:cs typeface="Manrope"/>
                <a:sym typeface="Manrope Medium"/>
              </a:rPr>
              <a:t>Гутянский</a:t>
            </a:r>
            <a:endParaRPr sz="5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5" name="Google Shape;445;p68"/>
          <p:cNvSpPr txBox="1"/>
          <p:nvPr/>
        </p:nvSpPr>
        <p:spPr>
          <a:xfrm>
            <a:off x="4439975" y="3089000"/>
            <a:ext cx="32061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900" dirty="0">
                <a:latin typeface="Manrope"/>
                <a:ea typeface="Manrope"/>
                <a:cs typeface="Manrope"/>
                <a:sym typeface="Manrope"/>
              </a:rPr>
              <a:t>Студент группы</a:t>
            </a:r>
            <a:r>
              <a:rPr lang="en-US" sz="900" dirty="0"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ru-RU" sz="900" dirty="0" err="1">
                <a:latin typeface="Manrope"/>
                <a:ea typeface="Manrope"/>
                <a:cs typeface="Manrope"/>
                <a:sym typeface="Manrope"/>
              </a:rPr>
              <a:t>3823Б1ПР1</a:t>
            </a:r>
            <a:endParaRPr lang="en-US" sz="900" dirty="0">
              <a:latin typeface="Manrope"/>
              <a:ea typeface="Manrope"/>
              <a:cs typeface="Manrope"/>
              <a:sym typeface="Manrope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900" dirty="0">
                <a:latin typeface="Manrope"/>
                <a:ea typeface="Manrope"/>
                <a:cs typeface="Manrope"/>
                <a:sym typeface="Manrope"/>
              </a:rPr>
              <a:t>Telegram: </a:t>
            </a: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@</a:t>
            </a:r>
            <a:r>
              <a:rPr lang="en-GB" sz="900" dirty="0" err="1">
                <a:latin typeface="Manrope"/>
                <a:ea typeface="Manrope"/>
                <a:cs typeface="Manrope"/>
                <a:sym typeface="Manrope"/>
              </a:rPr>
              <a:t>d4_1l</a:t>
            </a:r>
            <a:endParaRPr lang="en-US" sz="900" dirty="0">
              <a:latin typeface="Manrope"/>
              <a:ea typeface="Manrope"/>
              <a:cs typeface="Manrope"/>
              <a:sym typeface="Manrope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900" dirty="0">
                <a:latin typeface="Manrope"/>
                <a:ea typeface="Manrope"/>
                <a:cs typeface="Manrope"/>
                <a:sym typeface="Manrope"/>
              </a:rPr>
              <a:t>E</a:t>
            </a:r>
            <a:r>
              <a:rPr lang="en-US" sz="900" dirty="0">
                <a:latin typeface="Manrope"/>
                <a:ea typeface="Manrope"/>
                <a:cs typeface="Manrope"/>
                <a:sym typeface="Manrope"/>
              </a:rPr>
              <a:t>-mail</a:t>
            </a:r>
            <a:r>
              <a:rPr lang="ru-RU" sz="900" dirty="0">
                <a:latin typeface="Manrope"/>
                <a:ea typeface="Manrope"/>
                <a:cs typeface="Manrope"/>
                <a:sym typeface="Manrope"/>
              </a:rPr>
              <a:t>:</a:t>
            </a:r>
            <a:r>
              <a:rPr lang="en-US" sz="900" dirty="0"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en-US" sz="900" dirty="0" err="1">
                <a:latin typeface="Manrope"/>
                <a:ea typeface="Manrope"/>
                <a:cs typeface="Manrope"/>
                <a:sym typeface="Manrope"/>
              </a:rPr>
              <a:t>d4n11gol@yandex.ru</a:t>
            </a:r>
            <a:endParaRPr lang="en-US" sz="900" dirty="0">
              <a:latin typeface="Manrope"/>
              <a:ea typeface="Manrope"/>
              <a:cs typeface="Manrope"/>
              <a:sym typeface="Manrope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latin typeface="Manrope"/>
                <a:ea typeface="Manrope"/>
                <a:cs typeface="Manrope"/>
                <a:sym typeface="Manrope"/>
              </a:rPr>
              <a:t>GitHub: </a:t>
            </a:r>
            <a:r>
              <a:rPr lang="en-US" sz="900" dirty="0">
                <a:latin typeface="Manrope"/>
                <a:ea typeface="Manrope"/>
                <a:cs typeface="Manrope"/>
                <a:sym typeface="Manrope"/>
                <a:hlinkClick r:id="rId6"/>
              </a:rPr>
              <a:t>https://</a:t>
            </a:r>
            <a:r>
              <a:rPr lang="en-US" sz="900" dirty="0" err="1">
                <a:latin typeface="Manrope"/>
                <a:ea typeface="Manrope"/>
                <a:cs typeface="Manrope"/>
                <a:sym typeface="Manrope"/>
                <a:hlinkClick r:id="rId6"/>
              </a:rPr>
              <a:t>github.com</a:t>
            </a:r>
            <a:r>
              <a:rPr lang="en-US" sz="900" dirty="0">
                <a:latin typeface="Manrope"/>
                <a:ea typeface="Manrope"/>
                <a:cs typeface="Manrope"/>
                <a:sym typeface="Manrope"/>
                <a:hlinkClick r:id="rId6"/>
              </a:rPr>
              <a:t>/</a:t>
            </a:r>
            <a:r>
              <a:rPr lang="en-US" sz="900" dirty="0" err="1">
                <a:latin typeface="Manrope"/>
                <a:ea typeface="Manrope"/>
                <a:cs typeface="Manrope"/>
                <a:sym typeface="Manrope"/>
                <a:hlinkClick r:id="rId6"/>
              </a:rPr>
              <a:t>DtheMakeeeR</a:t>
            </a:r>
            <a:endParaRPr lang="ru-RU"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6" name="Google Shape;446;p68"/>
          <p:cNvSpPr txBox="1"/>
          <p:nvPr/>
        </p:nvSpPr>
        <p:spPr>
          <a:xfrm>
            <a:off x="4439975" y="2782725"/>
            <a:ext cx="3206100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333333"/>
                </a:solidFill>
                <a:latin typeface="Manrope Medium"/>
                <a:ea typeface="Manrope"/>
                <a:cs typeface="Manrope"/>
                <a:sym typeface="Manrope Medium"/>
              </a:rPr>
              <a:t>Даниил Голованов</a:t>
            </a:r>
            <a:endParaRPr sz="500" dirty="0">
              <a:highlight>
                <a:srgbClr val="FFFF00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8"/>
          <p:cNvSpPr/>
          <p:nvPr/>
        </p:nvSpPr>
        <p:spPr>
          <a:xfrm>
            <a:off x="0" y="1325"/>
            <a:ext cx="1815389" cy="5146170"/>
          </a:xfrm>
          <a:custGeom>
            <a:avLst/>
            <a:gdLst/>
            <a:ahLst/>
            <a:cxnLst/>
            <a:rect l="l" t="t" r="r" b="b"/>
            <a:pathLst>
              <a:path w="1370105" h="3935885" extrusionOk="0">
                <a:moveTo>
                  <a:pt x="0" y="0"/>
                </a:moveTo>
                <a:lnTo>
                  <a:pt x="1370105" y="0"/>
                </a:lnTo>
                <a:lnTo>
                  <a:pt x="1370105" y="3935885"/>
                </a:lnTo>
                <a:lnTo>
                  <a:pt x="0" y="39358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63" name="Google Shape;263;p58"/>
          <p:cNvSpPr txBox="1"/>
          <p:nvPr/>
        </p:nvSpPr>
        <p:spPr>
          <a:xfrm>
            <a:off x="3087161" y="1224397"/>
            <a:ext cx="4240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Manrope Light" panose="020B0604020202020204" charset="0"/>
                <a:sym typeface="Manrope Light"/>
              </a:rPr>
              <a:t>Изучение материалов, планирование</a:t>
            </a:r>
            <a:endParaRPr dirty="0">
              <a:latin typeface="Manrope Light" panose="020B0604020202020204" charset="0"/>
              <a:sym typeface="Manrope"/>
            </a:endParaRPr>
          </a:p>
        </p:txBody>
      </p:sp>
      <p:sp>
        <p:nvSpPr>
          <p:cNvPr id="264" name="Google Shape;264;p58"/>
          <p:cNvSpPr txBox="1"/>
          <p:nvPr/>
        </p:nvSpPr>
        <p:spPr>
          <a:xfrm>
            <a:off x="3087161" y="1866647"/>
            <a:ext cx="4240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ru-RU" dirty="0">
                <a:latin typeface="Manrope Light" panose="020B0604020202020204" charset="0"/>
                <a:sym typeface="Manrope Light"/>
              </a:rPr>
              <a:t>Разработка программы базового алгоритма</a:t>
            </a:r>
            <a:endParaRPr lang="en-GB" dirty="0">
              <a:latin typeface="Manrope Light" panose="020B0604020202020204" charset="0"/>
              <a:sym typeface="Manrope"/>
            </a:endParaRPr>
          </a:p>
        </p:txBody>
      </p:sp>
      <p:sp>
        <p:nvSpPr>
          <p:cNvPr id="265" name="Google Shape;265;p58"/>
          <p:cNvSpPr txBox="1"/>
          <p:nvPr/>
        </p:nvSpPr>
        <p:spPr>
          <a:xfrm>
            <a:off x="3087161" y="2508897"/>
            <a:ext cx="4240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>
              <a:lnSpc>
                <a:spcPct val="160000"/>
              </a:lnSpc>
              <a:buFont typeface="Arial"/>
              <a:buNone/>
            </a:pPr>
            <a:r>
              <a:rPr lang="ru-RU" dirty="0">
                <a:latin typeface="Manrope Light" panose="020B0604020202020204" charset="0"/>
                <a:sym typeface="Manrope Light"/>
              </a:rPr>
              <a:t>Имплементация алгоритмов-конкурентов</a:t>
            </a:r>
            <a:endParaRPr lang="en-GB" dirty="0">
              <a:latin typeface="Manrope Light" panose="020B0604020202020204" charset="0"/>
              <a:sym typeface="Manrope"/>
            </a:endParaRPr>
          </a:p>
        </p:txBody>
      </p:sp>
      <p:sp>
        <p:nvSpPr>
          <p:cNvPr id="266" name="Google Shape;266;p58"/>
          <p:cNvSpPr txBox="1"/>
          <p:nvPr/>
        </p:nvSpPr>
        <p:spPr>
          <a:xfrm>
            <a:off x="3087161" y="3151147"/>
            <a:ext cx="4240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ru-RU" dirty="0">
                <a:latin typeface="Manrope Light" panose="020B0604020202020204" charset="0"/>
                <a:sym typeface="Manrope Light"/>
              </a:rPr>
              <a:t>Разработка новой модификации алгоритма</a:t>
            </a:r>
            <a:endParaRPr lang="en-GB" dirty="0">
              <a:latin typeface="Manrope Light" panose="020B0604020202020204" charset="0"/>
              <a:sym typeface="Manrope"/>
            </a:endParaRPr>
          </a:p>
        </p:txBody>
      </p:sp>
      <p:sp>
        <p:nvSpPr>
          <p:cNvPr id="267" name="Google Shape;267;p58"/>
          <p:cNvSpPr txBox="1"/>
          <p:nvPr/>
        </p:nvSpPr>
        <p:spPr>
          <a:xfrm>
            <a:off x="3087161" y="3793397"/>
            <a:ext cx="4240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>
              <a:lnSpc>
                <a:spcPct val="160000"/>
              </a:lnSpc>
              <a:buFont typeface="Arial"/>
              <a:buNone/>
            </a:pPr>
            <a:r>
              <a:rPr lang="ru-RU" dirty="0">
                <a:latin typeface="Manrope Light" panose="020B0604020202020204" charset="0"/>
                <a:sym typeface="Manrope Light"/>
              </a:rPr>
              <a:t>Сравнение алгоритмов, доработка модификации</a:t>
            </a:r>
            <a:endParaRPr lang="en-GB" dirty="0">
              <a:latin typeface="Manrope Light" panose="020B0604020202020204" charset="0"/>
              <a:sym typeface="Manrope"/>
            </a:endParaRPr>
          </a:p>
        </p:txBody>
      </p:sp>
      <p:sp>
        <p:nvSpPr>
          <p:cNvPr id="268" name="Google Shape;268;p58"/>
          <p:cNvSpPr txBox="1"/>
          <p:nvPr/>
        </p:nvSpPr>
        <p:spPr>
          <a:xfrm>
            <a:off x="2440985" y="1224397"/>
            <a:ext cx="34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0" u="none" strike="noStrike" cap="none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I</a:t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9" name="Google Shape;269;p58"/>
          <p:cNvSpPr txBox="1"/>
          <p:nvPr/>
        </p:nvSpPr>
        <p:spPr>
          <a:xfrm>
            <a:off x="2440985" y="1866647"/>
            <a:ext cx="34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0" u="none" strike="noStrike" cap="none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II</a:t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0" name="Google Shape;270;p58"/>
          <p:cNvSpPr txBox="1"/>
          <p:nvPr/>
        </p:nvSpPr>
        <p:spPr>
          <a:xfrm>
            <a:off x="2440985" y="2508897"/>
            <a:ext cx="34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0" u="none" strike="noStrike" cap="none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III</a:t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1" name="Google Shape;271;p58"/>
          <p:cNvSpPr txBox="1"/>
          <p:nvPr/>
        </p:nvSpPr>
        <p:spPr>
          <a:xfrm>
            <a:off x="2440985" y="3151147"/>
            <a:ext cx="34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0" u="none" strike="noStrike" cap="none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IV</a:t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2" name="Google Shape;272;p58"/>
          <p:cNvSpPr txBox="1"/>
          <p:nvPr/>
        </p:nvSpPr>
        <p:spPr>
          <a:xfrm>
            <a:off x="2440985" y="3793397"/>
            <a:ext cx="34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0" u="none" strike="noStrike" cap="none" dirty="0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V</a:t>
            </a: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3" name="Google Shape;273;p58"/>
          <p:cNvSpPr txBox="1"/>
          <p:nvPr/>
        </p:nvSpPr>
        <p:spPr>
          <a:xfrm>
            <a:off x="8064628" y="1234356"/>
            <a:ext cx="670298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>
              <a:lnSpc>
                <a:spcPct val="160000"/>
              </a:lnSpc>
              <a:buFont typeface="Arial"/>
              <a:buNone/>
            </a:pPr>
            <a:r>
              <a:rPr lang="ru-RU" dirty="0">
                <a:latin typeface="Manrope Light" panose="020B0604020202020204" charset="0"/>
                <a:sym typeface="Manrope"/>
              </a:rPr>
              <a:t>март</a:t>
            </a:r>
            <a:endParaRPr dirty="0">
              <a:latin typeface="Manrope Light" panose="020B0604020202020204" charset="0"/>
              <a:sym typeface="Manrope"/>
            </a:endParaRPr>
          </a:p>
        </p:txBody>
      </p:sp>
      <p:sp>
        <p:nvSpPr>
          <p:cNvPr id="274" name="Google Shape;274;p58"/>
          <p:cNvSpPr txBox="1"/>
          <p:nvPr/>
        </p:nvSpPr>
        <p:spPr>
          <a:xfrm>
            <a:off x="8064628" y="1866647"/>
            <a:ext cx="670298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60000"/>
              </a:lnSpc>
            </a:pPr>
            <a:r>
              <a:rPr lang="ru-RU" dirty="0">
                <a:latin typeface="Manrope Light" panose="020B0604020202020204" charset="0"/>
                <a:sym typeface="Manrope"/>
              </a:rPr>
              <a:t>март</a:t>
            </a:r>
            <a:endParaRPr lang="en-GB" dirty="0">
              <a:latin typeface="Manrope Light" panose="020B0604020202020204" charset="0"/>
              <a:sym typeface="Manrope"/>
            </a:endParaRPr>
          </a:p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6" name="Google Shape;276;p58"/>
          <p:cNvSpPr txBox="1"/>
          <p:nvPr/>
        </p:nvSpPr>
        <p:spPr>
          <a:xfrm>
            <a:off x="8064628" y="2444242"/>
            <a:ext cx="670298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60000"/>
              </a:lnSpc>
            </a:pPr>
            <a:r>
              <a:rPr lang="ru-RU" dirty="0">
                <a:latin typeface="Manrope Light" panose="020B0604020202020204" charset="0"/>
                <a:sym typeface="Manrope"/>
              </a:rPr>
              <a:t>апрель</a:t>
            </a:r>
            <a:endParaRPr dirty="0">
              <a:latin typeface="Manrope Light" panose="020B0604020202020204" charset="0"/>
              <a:sym typeface="Manrope"/>
            </a:endParaRPr>
          </a:p>
        </p:txBody>
      </p:sp>
      <p:sp>
        <p:nvSpPr>
          <p:cNvPr id="278" name="Google Shape;278;p58"/>
          <p:cNvSpPr txBox="1"/>
          <p:nvPr/>
        </p:nvSpPr>
        <p:spPr>
          <a:xfrm>
            <a:off x="269594" y="369570"/>
            <a:ext cx="1276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i="0" u="none" strike="noStrike" cap="none" dirty="0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План проекта</a:t>
            </a:r>
            <a:endParaRPr sz="105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" name="Google Shape;277;p58"/>
          <p:cNvSpPr txBox="1"/>
          <p:nvPr/>
        </p:nvSpPr>
        <p:spPr>
          <a:xfrm>
            <a:off x="8083177" y="3152150"/>
            <a:ext cx="670298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60000"/>
              </a:lnSpc>
            </a:pPr>
            <a:r>
              <a:rPr lang="ru-RU" dirty="0">
                <a:latin typeface="Manrope Light" panose="020B0604020202020204" charset="0"/>
                <a:sym typeface="Manrope"/>
              </a:rPr>
              <a:t>апрель</a:t>
            </a:r>
            <a:endParaRPr lang="en-GB" dirty="0">
              <a:latin typeface="Manrope Light" panose="020B0604020202020204" charset="0"/>
              <a:sym typeface="Manrope"/>
            </a:endParaRPr>
          </a:p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" name="Google Shape;272;p58"/>
          <p:cNvSpPr txBox="1"/>
          <p:nvPr/>
        </p:nvSpPr>
        <p:spPr>
          <a:xfrm>
            <a:off x="2400055" y="4359822"/>
            <a:ext cx="3411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Manrope Medium"/>
                <a:ea typeface="Manrope"/>
                <a:cs typeface="Manrope"/>
                <a:sym typeface="Manrope Medium"/>
              </a:rPr>
              <a:t>VI</a:t>
            </a: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" name="Google Shape;267;p58"/>
          <p:cNvSpPr txBox="1"/>
          <p:nvPr/>
        </p:nvSpPr>
        <p:spPr>
          <a:xfrm>
            <a:off x="3082354" y="4365466"/>
            <a:ext cx="4240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ru-RU" dirty="0">
                <a:latin typeface="Manrope Light" panose="020B0604020202020204" charset="0"/>
                <a:sym typeface="Manrope"/>
              </a:rPr>
              <a:t>Оценка экспериментальных данных</a:t>
            </a:r>
            <a:endParaRPr lang="en-GB" dirty="0">
              <a:latin typeface="Manrope Light" panose="020B0604020202020204" charset="0"/>
              <a:sym typeface="Manrope"/>
            </a:endParaRPr>
          </a:p>
        </p:txBody>
      </p:sp>
      <p:sp>
        <p:nvSpPr>
          <p:cNvPr id="24" name="Google Shape;277;p58"/>
          <p:cNvSpPr txBox="1"/>
          <p:nvPr/>
        </p:nvSpPr>
        <p:spPr>
          <a:xfrm>
            <a:off x="8064628" y="3793397"/>
            <a:ext cx="670298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60000"/>
              </a:lnSpc>
            </a:pPr>
            <a:r>
              <a:rPr lang="ru-RU" dirty="0">
                <a:latin typeface="Manrope Light" panose="020B0604020202020204" charset="0"/>
                <a:sym typeface="Manrope Medium"/>
              </a:rPr>
              <a:t>май</a:t>
            </a:r>
            <a:endParaRPr lang="en-GB" dirty="0">
              <a:latin typeface="Manrope Light" panose="020B0604020202020204" charset="0"/>
              <a:sym typeface="Manrope"/>
            </a:endParaRPr>
          </a:p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" name="Google Shape;277;p58"/>
          <p:cNvSpPr txBox="1"/>
          <p:nvPr/>
        </p:nvSpPr>
        <p:spPr>
          <a:xfrm>
            <a:off x="8064628" y="4359822"/>
            <a:ext cx="670298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60000"/>
              </a:lnSpc>
            </a:pPr>
            <a:r>
              <a:rPr lang="ru-RU" dirty="0">
                <a:latin typeface="Manrope Light" panose="020B0604020202020204" charset="0"/>
                <a:sym typeface="Manrope"/>
              </a:rPr>
              <a:t>май</a:t>
            </a:r>
            <a:endParaRPr lang="en-GB" dirty="0">
              <a:latin typeface="Manrope Light" panose="020B0604020202020204" charset="0"/>
              <a:sym typeface="Manrope"/>
            </a:endParaRPr>
          </a:p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1"/>
          <p:cNvSpPr txBox="1"/>
          <p:nvPr/>
        </p:nvSpPr>
        <p:spPr>
          <a:xfrm>
            <a:off x="3212573" y="1223946"/>
            <a:ext cx="4020433" cy="354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i="0" u="none" strike="noStrike" cap="none" dirty="0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</a:rPr>
              <a:t>Вместо жёстко зафиксированного распределения обязанностей была выбрана более гибкая система</a:t>
            </a:r>
            <a:r>
              <a:rPr lang="en-US" sz="1200" i="0" u="none" strike="noStrike" cap="none" dirty="0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</a:rPr>
              <a:t>, </a:t>
            </a:r>
            <a:r>
              <a:rPr lang="ru-RU" sz="1200" i="0" u="none" strike="noStrike" cap="none" dirty="0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</a:rPr>
              <a:t>состоящая из </a:t>
            </a:r>
            <a:r>
              <a:rPr lang="ru-RU" sz="1200" i="0" u="none" strike="noStrike" cap="none" dirty="0" err="1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</a:rPr>
              <a:t>микроспринтов</a:t>
            </a:r>
            <a:r>
              <a:rPr lang="en-US" sz="1200" i="0" u="none" strike="noStrike" cap="none" dirty="0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</a:rPr>
              <a:t>, </a:t>
            </a:r>
            <a:r>
              <a:rPr lang="ru-RU" sz="1200" i="0" u="none" strike="noStrike" cap="none" dirty="0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</a:rPr>
              <a:t>длительностью 3-5 дней каждый</a:t>
            </a:r>
            <a:r>
              <a:rPr lang="en-US" sz="1200" i="0" u="none" strike="noStrike" cap="none" dirty="0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</a:rPr>
              <a:t>;</a:t>
            </a:r>
            <a:endParaRPr lang="ru-RU" sz="1200" i="0" u="none" strike="noStrike" cap="none" dirty="0">
              <a:solidFill>
                <a:srgbClr val="33333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71450" marR="0" lvl="0" indent="-1714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</a:rPr>
              <a:t>На время каждого из них участникам проекта предлагается на выбор одна из 4-х задач</a:t>
            </a:r>
            <a:r>
              <a:rPr lang="en-US" sz="1200" dirty="0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</a:rPr>
              <a:t>, </a:t>
            </a:r>
            <a:r>
              <a:rPr lang="ru-RU" sz="1200" dirty="0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</a:rPr>
              <a:t>которая должна быть завершена</a:t>
            </a:r>
            <a:r>
              <a:rPr lang="en-US" sz="1200" dirty="0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</a:rPr>
              <a:t>;</a:t>
            </a:r>
            <a:endParaRPr lang="ru-RU" sz="1200" dirty="0">
              <a:solidFill>
                <a:srgbClr val="33333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71450" marR="0" lvl="0" indent="-1714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i="0" u="none" strike="noStrike" cap="none" dirty="0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</a:rPr>
              <a:t>Задачи выбираются исходя из текущего состояния проекта</a:t>
            </a:r>
            <a:r>
              <a:rPr lang="en-US" sz="1200" i="0" u="none" strike="noStrike" cap="none" dirty="0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ru-RU" sz="1200" i="0" u="none" strike="noStrike" cap="none" dirty="0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</a:rPr>
              <a:t>и решённых до этого задач</a:t>
            </a:r>
            <a:r>
              <a:rPr lang="en-US" sz="1200" i="0" u="none" strike="noStrike" cap="none" dirty="0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</a:rPr>
              <a:t>;</a:t>
            </a:r>
          </a:p>
          <a:p>
            <a:pPr marL="171450" marR="0" lvl="0" indent="-1714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</a:rPr>
              <a:t>Работа над проектом ведётся в соответствующем репозитории на ресурсе </a:t>
            </a:r>
            <a:r>
              <a:rPr lang="en-US" sz="1200" dirty="0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</a:rPr>
              <a:t>GitHub: </a:t>
            </a:r>
            <a:r>
              <a:rPr lang="en-US" sz="1200" dirty="0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  <a:hlinkClick r:id="rId3"/>
              </a:rPr>
              <a:t>https://</a:t>
            </a:r>
            <a:r>
              <a:rPr lang="en-US" sz="1200" dirty="0" err="1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  <a:hlinkClick r:id="rId3"/>
              </a:rPr>
              <a:t>github.com</a:t>
            </a:r>
            <a:r>
              <a:rPr lang="en-US" sz="1200" dirty="0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  <a:hlinkClick r:id="rId3"/>
              </a:rPr>
              <a:t>/</a:t>
            </a:r>
            <a:r>
              <a:rPr lang="en-US" sz="1200" dirty="0" err="1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  <a:hlinkClick r:id="rId3"/>
              </a:rPr>
              <a:t>Quaha</a:t>
            </a:r>
            <a:r>
              <a:rPr lang="en-US" sz="1200" dirty="0">
                <a:solidFill>
                  <a:srgbClr val="333333"/>
                </a:solidFill>
                <a:latin typeface="Manrope"/>
                <a:ea typeface="Manrope"/>
                <a:cs typeface="Manrope"/>
                <a:sym typeface="Manrope"/>
                <a:hlinkClick r:id="rId3"/>
              </a:rPr>
              <a:t>/swarm-algorithm</a:t>
            </a:r>
            <a:endParaRPr lang="ru-RU" sz="1200" i="0" u="none" strike="noStrike" cap="none" dirty="0">
              <a:solidFill>
                <a:srgbClr val="33333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6" name="Google Shape;306;p61"/>
          <p:cNvSpPr txBox="1">
            <a:spLocks noGrp="1"/>
          </p:cNvSpPr>
          <p:nvPr>
            <p:ph type="title"/>
          </p:nvPr>
        </p:nvSpPr>
        <p:spPr>
          <a:xfrm>
            <a:off x="3212574" y="621152"/>
            <a:ext cx="5280900" cy="354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Организация работы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27A01F-E595-6B43-A1BB-10925E08C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228600"/>
            <a:ext cx="2724133" cy="4914900"/>
          </a:xfrm>
          <a:prstGeom prst="rect">
            <a:avLst/>
          </a:prstGeom>
          <a:effectLst>
            <a:softEdge rad="2540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2"/>
          <p:cNvSpPr txBox="1"/>
          <p:nvPr/>
        </p:nvSpPr>
        <p:spPr>
          <a:xfrm>
            <a:off x="452626" y="1207200"/>
            <a:ext cx="63759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i="0" u="none" strike="noStrike" cap="none" dirty="0">
                <a:solidFill>
                  <a:srgbClr val="333333"/>
                </a:solidFill>
                <a:highlight>
                  <a:srgbClr val="FFFF00"/>
                </a:highlight>
                <a:latin typeface="Manrope Medium"/>
                <a:ea typeface="Manrope Medium"/>
                <a:cs typeface="Manrope Medium"/>
                <a:sym typeface="Manrope Medium"/>
              </a:rPr>
              <a:t>Текст</a:t>
            </a:r>
            <a:endParaRPr sz="1200" dirty="0">
              <a:highlight>
                <a:srgbClr val="FFFF00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3" name="Google Shape;313;p62"/>
          <p:cNvSpPr txBox="1"/>
          <p:nvPr/>
        </p:nvSpPr>
        <p:spPr>
          <a:xfrm>
            <a:off x="452628" y="2085108"/>
            <a:ext cx="38784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0" marR="0" lvl="1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Manrope"/>
              <a:buChar char="•"/>
            </a:pPr>
            <a:r>
              <a:rPr lang="ru-RU" sz="1100" i="0" u="none" strike="noStrike" cap="none" dirty="0">
                <a:solidFill>
                  <a:srgbClr val="333333"/>
                </a:solidFill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Текст</a:t>
            </a:r>
          </a:p>
          <a:p>
            <a:pPr marL="254000" marR="0" lvl="1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Manrope"/>
              <a:buChar char="•"/>
            </a:pPr>
            <a:r>
              <a:rPr lang="ru-RU" sz="1100" dirty="0">
                <a:solidFill>
                  <a:srgbClr val="333333"/>
                </a:solidFill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Текст</a:t>
            </a:r>
            <a:endParaRPr sz="1100" dirty="0">
              <a:highlight>
                <a:srgbClr val="FFFF00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4" name="Google Shape;314;p62"/>
          <p:cNvSpPr txBox="1"/>
          <p:nvPr/>
        </p:nvSpPr>
        <p:spPr>
          <a:xfrm>
            <a:off x="4594200" y="2085108"/>
            <a:ext cx="38280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0" marR="0" lvl="1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Manrope"/>
              <a:buChar char="•"/>
            </a:pPr>
            <a:r>
              <a:rPr lang="ru-RU" sz="1100" i="0" u="none" strike="noStrike" cap="none" dirty="0">
                <a:solidFill>
                  <a:srgbClr val="333333"/>
                </a:solidFill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Текст</a:t>
            </a:r>
          </a:p>
          <a:p>
            <a:pPr marL="254000" marR="0" lvl="1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Manrope"/>
              <a:buChar char="•"/>
            </a:pPr>
            <a:r>
              <a:rPr lang="ru-RU" sz="1100" dirty="0">
                <a:solidFill>
                  <a:srgbClr val="333333"/>
                </a:solidFill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Текст</a:t>
            </a:r>
            <a:endParaRPr sz="1100" dirty="0">
              <a:highlight>
                <a:srgbClr val="FFFF00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5" name="Google Shape;315;p62"/>
          <p:cNvSpPr txBox="1">
            <a:spLocks noGrp="1"/>
          </p:cNvSpPr>
          <p:nvPr>
            <p:ph type="title"/>
          </p:nvPr>
        </p:nvSpPr>
        <p:spPr>
          <a:xfrm>
            <a:off x="452625" y="575025"/>
            <a:ext cx="5280900" cy="354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Описание задачи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7"/>
          <p:cNvSpPr txBox="1">
            <a:spLocks noGrp="1"/>
          </p:cNvSpPr>
          <p:nvPr>
            <p:ph type="title"/>
          </p:nvPr>
        </p:nvSpPr>
        <p:spPr>
          <a:xfrm>
            <a:off x="455149" y="1643224"/>
            <a:ext cx="5123718" cy="1871501"/>
          </a:xfrm>
          <a:prstGeom prst="rect">
            <a:avLst/>
          </a:prstGeom>
        </p:spPr>
        <p:txBody>
          <a:bodyPr spcFirstLastPara="1" wrap="square" lIns="45725" tIns="22850" rIns="45725" bIns="2285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ru-RU" sz="3000" dirty="0"/>
              <a:t>Сравнительный анализ: алгоритмы и тестовые функции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2182679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3"/>
          <p:cNvSpPr txBox="1">
            <a:spLocks noGrp="1"/>
          </p:cNvSpPr>
          <p:nvPr>
            <p:ph type="title"/>
          </p:nvPr>
        </p:nvSpPr>
        <p:spPr>
          <a:xfrm>
            <a:off x="452625" y="575025"/>
            <a:ext cx="5280900" cy="354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Controlled Random Search (CRS)</a:t>
            </a:r>
            <a:endParaRPr dirty="0"/>
          </a:p>
        </p:txBody>
      </p:sp>
      <p:sp>
        <p:nvSpPr>
          <p:cNvPr id="321" name="Google Shape;321;p63"/>
          <p:cNvSpPr txBox="1"/>
          <p:nvPr/>
        </p:nvSpPr>
        <p:spPr>
          <a:xfrm>
            <a:off x="3156164" y="1756603"/>
            <a:ext cx="22242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i="0" u="none" strike="noStrike" cap="none" dirty="0">
                <a:solidFill>
                  <a:srgbClr val="333333"/>
                </a:solidFill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Текст</a:t>
            </a:r>
            <a:endParaRPr sz="1000" dirty="0">
              <a:highlight>
                <a:srgbClr val="FFFF00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2" name="Google Shape;322;p63"/>
          <p:cNvSpPr txBox="1"/>
          <p:nvPr/>
        </p:nvSpPr>
        <p:spPr>
          <a:xfrm>
            <a:off x="502528" y="1756603"/>
            <a:ext cx="22242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Текст</a:t>
            </a:r>
            <a:endParaRPr sz="1000" dirty="0">
              <a:highlight>
                <a:srgbClr val="FFFF00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3" name="Google Shape;323;p63"/>
          <p:cNvSpPr txBox="1"/>
          <p:nvPr/>
        </p:nvSpPr>
        <p:spPr>
          <a:xfrm>
            <a:off x="502528" y="1279375"/>
            <a:ext cx="2224200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333333"/>
                </a:solidFill>
                <a:latin typeface="Manrope Medium"/>
                <a:ea typeface="Manrope"/>
                <a:cs typeface="Manrope"/>
                <a:sym typeface="Manrope Medium"/>
              </a:rPr>
              <a:t>Описание</a:t>
            </a:r>
            <a:endParaRPr sz="5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4" name="Google Shape;324;p63"/>
          <p:cNvSpPr txBox="1"/>
          <p:nvPr/>
        </p:nvSpPr>
        <p:spPr>
          <a:xfrm>
            <a:off x="3156164" y="1279375"/>
            <a:ext cx="2224200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i="0" u="none" strike="noStrike" cap="none" dirty="0">
                <a:solidFill>
                  <a:srgbClr val="33333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Особенности</a:t>
            </a:r>
            <a:endParaRPr sz="500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6092C62-37CF-BC93-2F3A-72A7E7B76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188" y="233363"/>
            <a:ext cx="3519812" cy="4910137"/>
          </a:xfrm>
          <a:prstGeom prst="rect">
            <a:avLst/>
          </a:prstGeom>
          <a:effectLst>
            <a:softEdge rad="25400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4"/>
          <p:cNvSpPr txBox="1">
            <a:spLocks noGrp="1"/>
          </p:cNvSpPr>
          <p:nvPr>
            <p:ph type="title"/>
          </p:nvPr>
        </p:nvSpPr>
        <p:spPr>
          <a:xfrm>
            <a:off x="452625" y="575025"/>
            <a:ext cx="5280900" cy="354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Функция </a:t>
            </a:r>
            <a:r>
              <a:rPr lang="ru-RU" dirty="0" err="1"/>
              <a:t>Растригина</a:t>
            </a:r>
            <a:endParaRPr dirty="0"/>
          </a:p>
        </p:txBody>
      </p:sp>
      <p:sp>
        <p:nvSpPr>
          <p:cNvPr id="331" name="Google Shape;331;p64"/>
          <p:cNvSpPr txBox="1"/>
          <p:nvPr/>
        </p:nvSpPr>
        <p:spPr>
          <a:xfrm>
            <a:off x="4396875" y="1632240"/>
            <a:ext cx="38784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f(…) = … (</a:t>
            </a:r>
            <a:r>
              <a:rPr lang="ru-RU" sz="1200" dirty="0"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но нормальной формулой</a:t>
            </a:r>
            <a:r>
              <a:rPr lang="en-US" sz="1200" dirty="0"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, </a:t>
            </a:r>
            <a:r>
              <a:rPr lang="ru-RU" sz="1200" dirty="0"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а не текстом</a:t>
            </a:r>
            <a:r>
              <a:rPr lang="en-US" sz="1200" dirty="0"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)</a:t>
            </a:r>
            <a:endParaRPr lang="ru-RU" sz="1200" dirty="0">
              <a:highlight>
                <a:srgbClr val="FFFF00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2" name="Google Shape;332;p64"/>
          <p:cNvSpPr txBox="1"/>
          <p:nvPr/>
        </p:nvSpPr>
        <p:spPr>
          <a:xfrm>
            <a:off x="4396878" y="2319858"/>
            <a:ext cx="38784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0" marR="0" lvl="1" indent="-1143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Manrope"/>
              <a:buChar char="•"/>
            </a:pPr>
            <a:r>
              <a:rPr lang="ru-RU" sz="1000" dirty="0" err="1">
                <a:solidFill>
                  <a:srgbClr val="333333"/>
                </a:solidFill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Пункт1</a:t>
            </a:r>
            <a:r>
              <a:rPr lang="en-US" sz="1000" dirty="0">
                <a:solidFill>
                  <a:srgbClr val="333333"/>
                </a:solidFill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;</a:t>
            </a:r>
          </a:p>
          <a:p>
            <a:pPr marL="254000" marR="0" lvl="1" indent="-1143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Manrope"/>
              <a:buChar char="•"/>
            </a:pPr>
            <a:r>
              <a:rPr lang="ru-RU" sz="1000" dirty="0" err="1">
                <a:solidFill>
                  <a:srgbClr val="333333"/>
                </a:solidFill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Пункт2</a:t>
            </a:r>
            <a:r>
              <a:rPr lang="en-US" sz="1000" dirty="0">
                <a:solidFill>
                  <a:srgbClr val="333333"/>
                </a:solidFill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;</a:t>
            </a:r>
          </a:p>
          <a:p>
            <a:pPr marL="254000" marR="0" lvl="1" indent="-1143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Manrope"/>
              <a:buChar char="•"/>
            </a:pPr>
            <a:r>
              <a:rPr lang="ru-RU" sz="1000" dirty="0" err="1">
                <a:solidFill>
                  <a:srgbClr val="333333"/>
                </a:solidFill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Пункт3</a:t>
            </a:r>
            <a:r>
              <a:rPr lang="en-US" sz="1000" dirty="0">
                <a:solidFill>
                  <a:srgbClr val="333333"/>
                </a:solidFill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;</a:t>
            </a:r>
            <a:endParaRPr sz="1000" dirty="0">
              <a:solidFill>
                <a:srgbClr val="333333"/>
              </a:solidFill>
              <a:highlight>
                <a:srgbClr val="FFFF00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Google Shape;331;p64">
            <a:extLst>
              <a:ext uri="{FF2B5EF4-FFF2-40B4-BE49-F238E27FC236}">
                <a16:creationId xmlns:a16="http://schemas.microsoft.com/office/drawing/2014/main" id="{6C02F778-99D4-1FA0-33A4-7882B5ADF2CA}"/>
              </a:ext>
            </a:extLst>
          </p:cNvPr>
          <p:cNvSpPr txBox="1"/>
          <p:nvPr/>
        </p:nvSpPr>
        <p:spPr>
          <a:xfrm>
            <a:off x="4396875" y="1283764"/>
            <a:ext cx="38784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Текст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FA47CB7-E53D-9473-0555-34DD3074A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20" y="1243875"/>
            <a:ext cx="3808447" cy="3103377"/>
          </a:xfrm>
          <a:prstGeom prst="rect">
            <a:avLst/>
          </a:prstGeom>
          <a:effectLst>
            <a:softEdge rad="266700"/>
          </a:effectLst>
        </p:spPr>
      </p:pic>
      <p:sp>
        <p:nvSpPr>
          <p:cNvPr id="9" name="Google Shape;331;p64">
            <a:extLst>
              <a:ext uri="{FF2B5EF4-FFF2-40B4-BE49-F238E27FC236}">
                <a16:creationId xmlns:a16="http://schemas.microsoft.com/office/drawing/2014/main" id="{8413CDD0-0048-6393-5A61-E79532257A93}"/>
              </a:ext>
            </a:extLst>
          </p:cNvPr>
          <p:cNvSpPr txBox="1"/>
          <p:nvPr/>
        </p:nvSpPr>
        <p:spPr>
          <a:xfrm>
            <a:off x="4396875" y="2024392"/>
            <a:ext cx="38784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Особенности</a:t>
            </a:r>
            <a:r>
              <a:rPr lang="en-US" sz="1200" dirty="0">
                <a:highlight>
                  <a:srgbClr val="FFFF00"/>
                </a:highlight>
                <a:latin typeface="Manrope"/>
                <a:ea typeface="Manrope"/>
                <a:cs typeface="Manrope"/>
                <a:sym typeface="Manrope"/>
              </a:rPr>
              <a:t>:</a:t>
            </a:r>
            <a:endParaRPr lang="ru-RU" sz="1200" dirty="0">
              <a:highlight>
                <a:srgbClr val="FFFF00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71"/>
          <p:cNvPicPr preferRelativeResize="0"/>
          <p:nvPr/>
        </p:nvPicPr>
        <p:blipFill rotWithShape="1">
          <a:blip r:embed="rId3">
            <a:alphaModFix amt="51000"/>
          </a:blip>
          <a:srcRect b="17770"/>
          <a:stretch/>
        </p:blipFill>
        <p:spPr>
          <a:xfrm>
            <a:off x="0" y="0"/>
            <a:ext cx="9144003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sert">
  <a:themeElements>
    <a:clrScheme name="Office">
      <a:dk1>
        <a:srgbClr val="333333"/>
      </a:dk1>
      <a:lt1>
        <a:srgbClr val="F8F8F8"/>
      </a:lt1>
      <a:dk2>
        <a:srgbClr val="1F497D"/>
      </a:dk2>
      <a:lt2>
        <a:srgbClr val="EEECE1"/>
      </a:lt2>
      <a:accent1>
        <a:srgbClr val="6ABFE2"/>
      </a:accent1>
      <a:accent2>
        <a:srgbClr val="E0B8AE"/>
      </a:accent2>
      <a:accent3>
        <a:srgbClr val="BEBEBE"/>
      </a:accent3>
      <a:accent4>
        <a:srgbClr val="A39299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392</Words>
  <Application>Microsoft Office PowerPoint</Application>
  <PresentationFormat>Экран (16:9)</PresentationFormat>
  <Paragraphs>73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Manrope</vt:lpstr>
      <vt:lpstr>Manrope Medium</vt:lpstr>
      <vt:lpstr>Manrope Light</vt:lpstr>
      <vt:lpstr>Simple Light</vt:lpstr>
      <vt:lpstr>Desert</vt:lpstr>
      <vt:lpstr>Роевая модификация алгоритма оптимизации SoFA</vt:lpstr>
      <vt:lpstr>Мотивация</vt:lpstr>
      <vt:lpstr>Участники проекта</vt:lpstr>
      <vt:lpstr>Презентация PowerPoint</vt:lpstr>
      <vt:lpstr>Организация работы</vt:lpstr>
      <vt:lpstr>Описание задачи</vt:lpstr>
      <vt:lpstr>Сравнительный анализ: алгоритмы и тестовые функции</vt:lpstr>
      <vt:lpstr>Controlled Random Search (CRS)</vt:lpstr>
      <vt:lpstr>Функция Растригина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Роевая модификация алгоритма оптимизации SoFA</dc:title>
  <cp:lastModifiedBy>Artem Romanov</cp:lastModifiedBy>
  <cp:revision>17</cp:revision>
  <dcterms:modified xsi:type="dcterms:W3CDTF">2026-03-06T08:11:35Z</dcterms:modified>
</cp:coreProperties>
</file>